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a44cc6b5de4cd4" /><Relationship Type="http://schemas.openxmlformats.org/officeDocument/2006/relationships/extended-properties" Target="/docProps/app.xml" Id="R19a2357f77d741e2" /><Relationship Type="http://schemas.openxmlformats.org/officeDocument/2006/relationships/officeDocument" Target="/ppt/presentation.xml" Id="Rd1a20407b55c40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47c3a1360401f"/>
  </p:sldMasterIdLst>
  <p:notesMasterIdLst>
    <p:notesMasterId xmlns:r="http://schemas.openxmlformats.org/officeDocument/2006/relationships" r:id="Rf7b3928d0fa14a19"/>
  </p:notesMasterIdLst>
  <p:sldIdLst>
    <p:sldId xmlns:r="http://schemas.openxmlformats.org/officeDocument/2006/relationships" id="256" r:id="R52da7c753ffa4f9c"/>
    <p:sldId xmlns:r="http://schemas.openxmlformats.org/officeDocument/2006/relationships" id="257" r:id="R5eac1a37f1cf44ef"/>
    <p:sldId xmlns:r="http://schemas.openxmlformats.org/officeDocument/2006/relationships" id="258" r:id="R1796249dcbbb45ca"/>
    <p:sldId xmlns:r="http://schemas.openxmlformats.org/officeDocument/2006/relationships" id="259" r:id="R65115494cb694059"/>
    <p:sldId xmlns:r="http://schemas.openxmlformats.org/officeDocument/2006/relationships" id="260" r:id="R4732a0e057994d1f"/>
    <p:sldId xmlns:r="http://schemas.openxmlformats.org/officeDocument/2006/relationships" id="261" r:id="Rbdce5f11342c4c6b"/>
    <p:sldId xmlns:r="http://schemas.openxmlformats.org/officeDocument/2006/relationships" id="262" r:id="R62e3d4493cc74a4c"/>
    <p:sldId xmlns:r="http://schemas.openxmlformats.org/officeDocument/2006/relationships" id="263" r:id="Rc8c25178ce7f4b2b"/>
    <p:sldId xmlns:r="http://schemas.openxmlformats.org/officeDocument/2006/relationships" id="264" r:id="Rbec1bfd2e0144b65"/>
    <p:sldId xmlns:r="http://schemas.openxmlformats.org/officeDocument/2006/relationships" id="265" r:id="Rf985234803e24f8c"/>
    <p:sldId xmlns:r="http://schemas.openxmlformats.org/officeDocument/2006/relationships" id="266" r:id="R0196e5b45d0f40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8612c948848b1" /><Relationship Type="http://schemas.openxmlformats.org/officeDocument/2006/relationships/slideMaster" Target="/ppt/slideMasters/slideMaster1.xml" Id="R47d47c3a1360401f" /><Relationship Type="http://schemas.openxmlformats.org/officeDocument/2006/relationships/notesMaster" Target="/ppt/notesMasters/notesMaster1.xml" Id="Rf7b3928d0fa14a19" /><Relationship Type="http://schemas.openxmlformats.org/officeDocument/2006/relationships/presProps" Target="/ppt/presProps.xml" Id="R194ffb5f1c3849d4" /><Relationship Type="http://schemas.openxmlformats.org/officeDocument/2006/relationships/tableStyles" Target="/ppt/tableStyles.xml" Id="R3691054d1331446f" /><Relationship Type="http://schemas.openxmlformats.org/officeDocument/2006/relationships/slide" Target="/ppt/slides/slide1.xml" Id="R52da7c753ffa4f9c" /><Relationship Type="http://schemas.openxmlformats.org/officeDocument/2006/relationships/slide" Target="/ppt/slides/slide2.xml" Id="R5eac1a37f1cf44ef" /><Relationship Type="http://schemas.openxmlformats.org/officeDocument/2006/relationships/slide" Target="/ppt/slides/slide3.xml" Id="R1796249dcbbb45ca" /><Relationship Type="http://schemas.openxmlformats.org/officeDocument/2006/relationships/slide" Target="/ppt/slides/slide4.xml" Id="R65115494cb694059" /><Relationship Type="http://schemas.openxmlformats.org/officeDocument/2006/relationships/slide" Target="/ppt/slides/slide5.xml" Id="R4732a0e057994d1f" /><Relationship Type="http://schemas.openxmlformats.org/officeDocument/2006/relationships/slide" Target="/ppt/slides/slide6.xml" Id="Rbdce5f11342c4c6b" /><Relationship Type="http://schemas.openxmlformats.org/officeDocument/2006/relationships/slide" Target="/ppt/slides/slide7.xml" Id="R62e3d4493cc74a4c" /><Relationship Type="http://schemas.openxmlformats.org/officeDocument/2006/relationships/slide" Target="/ppt/slides/slide8.xml" Id="Rc8c25178ce7f4b2b" /><Relationship Type="http://schemas.openxmlformats.org/officeDocument/2006/relationships/slide" Target="/ppt/slides/slide9.xml" Id="Rbec1bfd2e0144b65" /><Relationship Type="http://schemas.openxmlformats.org/officeDocument/2006/relationships/slide" Target="/ppt/slides/slide10.xml" Id="Rf985234803e24f8c" /><Relationship Type="http://schemas.openxmlformats.org/officeDocument/2006/relationships/slide" Target="/ppt/slides/slide11.xml" Id="R0196e5b45d0f40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eddcb90692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2fa8f8a8274008" /><Relationship Type="http://schemas.openxmlformats.org/officeDocument/2006/relationships/notesMaster" Target="/ppt/notesMasters/notesMaster1.xml" Id="Rcecb27f23862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5c473d5624c10" /><Relationship Type="http://schemas.openxmlformats.org/officeDocument/2006/relationships/notesMaster" Target="/ppt/notesMasters/notesMaster1.xml" Id="R85ff002f58db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c2071912764e67" /><Relationship Type="http://schemas.openxmlformats.org/officeDocument/2006/relationships/notesMaster" Target="/ppt/notesMasters/notesMaster1.xml" Id="Rb7b7256cd791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24239dd5194aed" /><Relationship Type="http://schemas.openxmlformats.org/officeDocument/2006/relationships/notesMaster" Target="/ppt/notesMasters/notesMaster1.xml" Id="R13759b846d21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71646e7a114d07" /><Relationship Type="http://schemas.openxmlformats.org/officeDocument/2006/relationships/notesMaster" Target="/ppt/notesMasters/notesMaster1.xml" Id="R0fdeefd910374d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ebbacb5f242d1" /><Relationship Type="http://schemas.openxmlformats.org/officeDocument/2006/relationships/notesMaster" Target="/ppt/notesMasters/notesMaster1.xml" Id="R2c1123ddd68b46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2984fadfd64c38" /><Relationship Type="http://schemas.openxmlformats.org/officeDocument/2006/relationships/notesMaster" Target="/ppt/notesMasters/notesMaster1.xml" Id="R1b5252b465ea43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877cf03a1a4bf8" /><Relationship Type="http://schemas.openxmlformats.org/officeDocument/2006/relationships/notesMaster" Target="/ppt/notesMasters/notesMaster1.xml" Id="Rb04e1619e19a4b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32f0b2762845e0" /><Relationship Type="http://schemas.openxmlformats.org/officeDocument/2006/relationships/notesMaster" Target="/ppt/notesMasters/notesMaster1.xml" Id="R04d099c7c56842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b2ab926e93487c" /><Relationship Type="http://schemas.openxmlformats.org/officeDocument/2006/relationships/notesMaster" Target="/ppt/notesMasters/notesMaster1.xml" Id="R734f8a5813ba4a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a374cbc954a26" /><Relationship Type="http://schemas.openxmlformats.org/officeDocument/2006/relationships/notesMaster" Target="/ppt/notesMasters/notesMaster1.xml" Id="R3f615c79c9594b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54fc3226a47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1940be51a43cd" /><Relationship Type="http://schemas.openxmlformats.org/officeDocument/2006/relationships/slideLayout" Target="/ppt/slideLayouts/slideLayout1.xml" Id="Rfdfdcf4b79c9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dcf4b79c9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b16d75cff47f2" /><Relationship Type="http://schemas.openxmlformats.org/officeDocument/2006/relationships/image" Target="/ppt/media/image.png" Id="Rfbf670a5e9244dd9" /><Relationship Type="http://schemas.openxmlformats.org/officeDocument/2006/relationships/notesSlide" Target="/ppt/notesSlides/notesSlide1.xml" Id="R36dda8f24a5e49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dfb67ce4f462c" /><Relationship Type="http://schemas.openxmlformats.org/officeDocument/2006/relationships/notesSlide" Target="/ppt/notesSlides/notesSlide2.xml" Id="Rf47dc739620a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ebd1fa6c4f4c" /><Relationship Type="http://schemas.openxmlformats.org/officeDocument/2006/relationships/notesSlide" Target="/ppt/notesSlides/notesSlide3.xml" Id="R58f65783db7243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fcb3facdc4808" /><Relationship Type="http://schemas.openxmlformats.org/officeDocument/2006/relationships/notesSlide" Target="/ppt/notesSlides/notesSlide4.xml" Id="Rf96ef1b039444a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9e4d4af13445f" /><Relationship Type="http://schemas.openxmlformats.org/officeDocument/2006/relationships/notesSlide" Target="/ppt/notesSlides/notesSlide5.xml" Id="Rc37141fa2086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fd7925fa84217" /><Relationship Type="http://schemas.openxmlformats.org/officeDocument/2006/relationships/image" Target="/ppt/media/image2.png" Id="R915d8331800a4c15" /><Relationship Type="http://schemas.openxmlformats.org/officeDocument/2006/relationships/image" Target="/ppt/media/image3.png" Id="R8e8b02dee1104275" /><Relationship Type="http://schemas.openxmlformats.org/officeDocument/2006/relationships/notesSlide" Target="/ppt/notesSlides/notesSlide6.xml" Id="R33bb593cf0574d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12811535e42fa" /><Relationship Type="http://schemas.openxmlformats.org/officeDocument/2006/relationships/image" Target="/ppt/media/image4.png" Id="Re45c107379694b10" /><Relationship Type="http://schemas.openxmlformats.org/officeDocument/2006/relationships/notesSlide" Target="/ppt/notesSlides/notesSlide7.xml" Id="R4193faec31dd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a67100dc4e5a" /><Relationship Type="http://schemas.openxmlformats.org/officeDocument/2006/relationships/image" Target="/ppt/media/image5.png" Id="Rddd6aafb701c4acc" /><Relationship Type="http://schemas.openxmlformats.org/officeDocument/2006/relationships/image" Target="/ppt/media/image6.png" Id="R9b53067b778b4cfa" /><Relationship Type="http://schemas.openxmlformats.org/officeDocument/2006/relationships/notesSlide" Target="/ppt/notesSlides/notesSlide8.xml" Id="R1bdbf08e319849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b25ee1b98469a" /><Relationship Type="http://schemas.openxmlformats.org/officeDocument/2006/relationships/image" Target="/ppt/media/image7.png" Id="Rbb89b88cf0cf43f4" /><Relationship Type="http://schemas.openxmlformats.org/officeDocument/2006/relationships/notesSlide" Target="/ppt/notesSlides/notesSlide9.xml" Id="Ra367f72818d644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bdb73c9154025" /><Relationship Type="http://schemas.openxmlformats.org/officeDocument/2006/relationships/image" Target="/ppt/media/image8.png" Id="Rd79d1cd766f54076" /><Relationship Type="http://schemas.openxmlformats.org/officeDocument/2006/relationships/notesSlide" Target="/ppt/notesSlides/notesSlide10.xml" Id="Rb96b9ddc8a014c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d67263a3b429f" /><Relationship Type="http://schemas.openxmlformats.org/officeDocument/2006/relationships/notesSlide" Target="/ppt/notesSlides/notesSlide11.xml" Id="Ra9906184cb0b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">
            <a:extLst xmlns:a="http://schemas.openxmlformats.org/drawingml/2006/main">
              <a:ext uri="{FF2B5EF4-FFF2-40B4-BE49-F238E27FC236}">
                <a16:creationId xmlns:a16="http://schemas.microsoft.com/office/drawing/2014/main" id="{08C37AD3-042F-443D-9FE3-77B0D9E5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ENSEMBLE METHODS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B9B8AF2-87D0-4934-847C-169C4D2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When does boosting beat bagging?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5A3ACAB-EE36-4D88-92E1-63BC512E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238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A from-scratch study of bias, variance, label noise, imbalance, and data structure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BBD8807-D087-4887-9C70-25E5C33E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Member A  |  Member B  |  Member C  |  Member D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C6CA586-B20F-4A83-9EF1-9B8F19B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AI Academy  |  Spring 2026</a:t>
            </a:r>
          </a:p>
        </p:txBody>
      </p:sp>
      <p:sp>
        <p:nvSpPr>
          <p:cNvPr id="6" name="panel-6">
            <a:extLst xmlns:a="http://schemas.openxmlformats.org/drawingml/2006/main">
              <a:ext uri="{FF2B5EF4-FFF2-40B4-BE49-F238E27FC236}">
                <a16:creationId xmlns:a16="http://schemas.microsoft.com/office/drawing/2014/main" id="{048C90A9-3300-4B89-B551-A1CDFF53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3" name="rule-7"/>
          <p:cNvCxnSpPr/>
          <p:nvPr/>
        </p:nvCxnSpPr>
        <p:spPr>
          <a:xfrm xmlns:a="http://schemas.openxmlformats.org/drawingml/2006/main">
            <a:off x="400050" y="6115050"/>
            <a:ext cx="1071562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E9BA4CB-1EDD-45EE-952B-0B7F7C02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0287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Full three-dataset run | 28 phases | 81 artifacts | 6 h 52 m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41CADA0-7B6B-47F4-8763-3F801655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670a5e9244d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38900" y="1280515"/>
            <a:ext cx="5181600" cy="38397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27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2">
            <a:extLst xmlns:a="http://schemas.openxmlformats.org/drawingml/2006/main">
              <a:ext uri="{FF2B5EF4-FFF2-40B4-BE49-F238E27FC236}">
                <a16:creationId xmlns:a16="http://schemas.microsoft.com/office/drawing/2014/main" id="{DBE39C24-36E0-448F-9839-DCCCECA4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methods attack different errors</a:t>
            </a:r>
          </a:p>
        </p:txBody>
      </p:sp>
      <p:sp>
        <p:nvSpPr>
          <p:cNvPr id="2" name="panel-10">
            <a:extLst xmlns:a="http://schemas.openxmlformats.org/drawingml/2006/main">
              <a:ext uri="{FF2B5EF4-FFF2-40B4-BE49-F238E27FC236}">
                <a16:creationId xmlns:a16="http://schemas.microsoft.com/office/drawing/2014/main" id="{53ADE722-C6F4-4395-BED8-69619B2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2959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11">
            <a:extLst xmlns:a="http://schemas.openxmlformats.org/drawingml/2006/main">
              <a:ext uri="{FF2B5EF4-FFF2-40B4-BE49-F238E27FC236}">
                <a16:creationId xmlns:a16="http://schemas.microsoft.com/office/drawing/2014/main" id="{4B9E5CE8-9076-490F-BC4A-E059F541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6959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A43C2859-BAE4-4511-BA85-2317AEC7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572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BOOSTING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AA6929C0-50A2-4C83-9A5B-2111349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572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Correct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3A344F0D-2DBF-4EE4-B57D-C24B15D7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Fit a stump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12F62C46-149D-4442-8E67-3B06749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67075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DAABDB47-2B55-4E05-97B5-5707EF3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Raise hard-example weight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5598088-0463-4A08-A9B6-F7C79DDD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286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Sequential attention can lower residual boundary bias  and can chase corrupted labels.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0F5164EC-5DAC-4F6A-9420-1FCD449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4572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BAGGING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FC022826-B288-459A-9952-53CB50E3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572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Average</a:t>
            </a:r>
          </a:p>
        </p:txBody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BF716EA2-0BA6-48BC-B644-6FBC2FF2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1190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Bootstrap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1AF19CE1-397A-49DC-AECF-D7366053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67075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B88BF11C-8EF2-46AD-8421-3C1DCD13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Decorrelate trees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9E96156E-CBB7-48AB-A382-17A21BF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4476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Independent variation cancels; shared correlation remains. OOB rows provide an internal check.</a:t>
            </a:r>
          </a:p>
        </p:txBody>
      </p:sp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EB7A8C6F-C0A2-414B-942B-020890AD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338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7F4F05BF-1C9F-4275-88D2-FBCED23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Inspectable code  -  not a library wrapper</a:t>
            </a:r>
          </a:p>
        </p:txBody>
      </p:sp>
      <p:sp>
        <p:nvSpPr>
          <p:cNvPr id="2" name="panel-26">
            <a:extLst xmlns:a="http://schemas.openxmlformats.org/drawingml/2006/main">
              <a:ext uri="{FF2B5EF4-FFF2-40B4-BE49-F238E27FC236}">
                <a16:creationId xmlns:a16="http://schemas.microsoft.com/office/drawing/2014/main" id="{5938333B-A7BE-49EB-8D4F-A89382C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43300" cy="37147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27">
            <a:extLst xmlns:a="http://schemas.openxmlformats.org/drawingml/2006/main">
              <a:ext uri="{FF2B5EF4-FFF2-40B4-BE49-F238E27FC236}">
                <a16:creationId xmlns:a16="http://schemas.microsoft.com/office/drawing/2014/main" id="{08FEF705-C2AB-4AA7-A9CA-F771C6F7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37147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nel-28">
            <a:extLst xmlns:a="http://schemas.openxmlformats.org/drawingml/2006/main">
              <a:ext uri="{FF2B5EF4-FFF2-40B4-BE49-F238E27FC236}">
                <a16:creationId xmlns:a16="http://schemas.microsoft.com/office/drawing/2014/main" id="{D52D9311-44E6-4460-972D-F1DC9FA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543300" cy="37147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17EB83B8-3E01-4F5A-9BE5-883FC82B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18FEBB2D-9C00-457F-A101-661FD5F6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from-scratch algorithms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9A5F6312-16E9-4F66-9682-DB6A0A34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762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Tree  |  SAMME  |  Forest
PCA  |  K-Means  |  DBSCAN
Gradient Boosting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65B439BD-CF90-48B2-8A87-6C6DBF30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51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E9E4BE9A-B1F2-47FF-A8C9-B8A10FC7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passing tests; 88.71% coverage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BA5FC024-E325-4A16-96AA-BD745EE6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Weighted splits  |  OOB complements
Empty clusters  |  noise-to-border
Sequential/parallel identity</a:t>
            </a:r>
          </a:p>
        </p:txBody>
      </p:sp>
      <p:sp>
        <p:nvSpPr>
          <p:cNvPr id="11" name="text-35">
            <a:extLst xmlns:a="http://schemas.openxmlformats.org/drawingml/2006/main">
              <a:ext uri="{FF2B5EF4-FFF2-40B4-BE49-F238E27FC236}">
                <a16:creationId xmlns:a16="http://schemas.microsoft.com/office/drawing/2014/main" id="{80844D33-82A0-49B3-9A9B-49363DA1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842D4A89-30AA-47AA-ADDA-13AF8B00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binding reproduction command</a:t>
            </a:r>
          </a:p>
        </p:txBody>
      </p:sp>
      <p:sp>
        <p:nvSpPr>
          <p:cNvPr id="13" name="text-37">
            <a:extLst xmlns:a="http://schemas.openxmlformats.org/drawingml/2006/main">
              <a:ext uri="{FF2B5EF4-FFF2-40B4-BE49-F238E27FC236}">
                <a16:creationId xmlns:a16="http://schemas.microsoft.com/office/drawing/2014/main" id="{B456578B-BF3C-4E64-B160-F0B38CB0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0050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python src/experiments/run_all.py
Seed 42  |  manifests  |  raw fold/stage/replicate evidence</a:t>
            </a:r>
          </a:p>
        </p:txBody>
      </p:sp>
      <p:sp>
        <p:nvSpPr>
          <p:cNvPr id="14" name="text-39">
            <a:extLst xmlns:a="http://schemas.openxmlformats.org/drawingml/2006/main">
              <a:ext uri="{FF2B5EF4-FFF2-40B4-BE49-F238E27FC236}">
                <a16:creationId xmlns:a16="http://schemas.microsoft.com/office/drawing/2014/main" id="{69932624-D04F-433F-AE62-26F06A7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61366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4">
            <a:extLst xmlns:a="http://schemas.openxmlformats.org/drawingml/2006/main">
              <a:ext uri="{FF2B5EF4-FFF2-40B4-BE49-F238E27FC236}">
                <a16:creationId xmlns:a16="http://schemas.microsoft.com/office/drawing/2014/main" id="{EE3E9B06-2796-4536-9F3E-9F1ACDB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Three datasets isolate the conditions that should change the winner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876AA110-80AE-4430-BC6C-361D51F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DATA</a:t>
            </a:r>
          </a:p>
        </p:txBody>
      </p:sp>
      <p:cxnSp>
        <p:nvCxnSpPr>
          <p:cNvPr id="38" name="rule-41"/>
          <p:cNvCxnSpPr/>
          <p:nvPr/>
        </p:nvCxnSpPr>
        <p:spPr>
          <a:xfrm xmlns:a="http://schemas.openxmlformats.org/drawingml/2006/main">
            <a:off x="400050" y="1619250"/>
            <a:ext cx="5334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C3B275AC-7859-4C71-9DEC-6A2B9CAD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Breast Cancer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FAE4B43A-5732-4F5D-8375-0043286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050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569 rows | 30 features | balanced binary baseline and Brier study</a:t>
            </a:r>
          </a:p>
        </p:txBody>
      </p:sp>
      <p:cxnSp>
        <p:nvCxnSpPr>
          <p:cNvPr id="41" name="rule-44"/>
          <p:cNvCxnSpPr/>
          <p:nvPr/>
        </p:nvCxnSpPr>
        <p:spPr>
          <a:xfrm xmlns:a="http://schemas.openxmlformats.org/drawingml/2006/main">
            <a:off x="400050" y="2647950"/>
            <a:ext cx="5334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8D0DE5E1-780C-416F-B6B5-0CAB957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Adult Income</a:t>
            </a:r>
          </a:p>
        </p:txBody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A595DE99-C1D0-44F9-8C1C-40B78F3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3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48,842 rows | 14 raw features | mixed types, missingness, moderate imbalance</a:t>
            </a:r>
          </a:p>
        </p:txBody>
      </p:sp>
      <p:cxnSp>
        <p:nvCxnSpPr>
          <p:cNvPr id="44" name="rule-47"/>
          <p:cNvCxnSpPr/>
          <p:nvPr/>
        </p:nvCxnSpPr>
        <p:spPr>
          <a:xfrm xmlns:a="http://schemas.openxmlformats.org/drawingml/2006/main">
            <a:off x="400050" y="3695700"/>
            <a:ext cx="5334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-48">
            <a:extLst xmlns:a="http://schemas.openxmlformats.org/drawingml/2006/main">
              <a:ext uri="{FF2B5EF4-FFF2-40B4-BE49-F238E27FC236}">
                <a16:creationId xmlns:a16="http://schemas.microsoft.com/office/drawing/2014/main" id="{0D838F76-684D-4D28-9423-E7989DE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Covertype</a:t>
            </a:r>
          </a:p>
        </p:txBody>
      </p:sp>
      <p:sp>
        <p:nvSpPr>
          <p:cNvPr id="11" name="text-49">
            <a:extLst xmlns:a="http://schemas.openxmlformats.org/drawingml/2006/main">
              <a:ext uri="{FF2B5EF4-FFF2-40B4-BE49-F238E27FC236}">
                <a16:creationId xmlns:a16="http://schemas.microsoft.com/office/drawing/2014/main" id="{29B0AAC8-B0A8-44CC-9D64-9BDE431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10,000-row subset | 54 features | 7 classes | minority 0.47%</a:t>
            </a:r>
          </a:p>
        </p:txBody>
      </p:sp>
      <p:sp>
        <p:nvSpPr>
          <p:cNvPr id="12" name="panel-50">
            <a:extLst xmlns:a="http://schemas.openxmlformats.org/drawingml/2006/main">
              <a:ext uri="{FF2B5EF4-FFF2-40B4-BE49-F238E27FC236}">
                <a16:creationId xmlns:a16="http://schemas.microsoft.com/office/drawing/2014/main" id="{E273462D-D361-4028-AB2B-DDED562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569595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51">
            <a:extLst xmlns:a="http://schemas.openxmlformats.org/drawingml/2006/main">
              <a:ext uri="{FF2B5EF4-FFF2-40B4-BE49-F238E27FC236}">
                <a16:creationId xmlns:a16="http://schemas.microsoft.com/office/drawing/2014/main" id="{F9489F24-6073-4FD9-AC07-80F6D574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SEVEN REQUIRED EXPERIMENTS</a:t>
            </a:r>
          </a:p>
        </p:txBody>
      </p:sp>
      <p:sp>
        <p:nvSpPr>
          <p:cNvPr id="14" name="text-52">
            <a:extLst xmlns:a="http://schemas.openxmlformats.org/drawingml/2006/main">
              <a:ext uri="{FF2B5EF4-FFF2-40B4-BE49-F238E27FC236}">
                <a16:creationId xmlns:a16="http://schemas.microsoft.com/office/drawing/2014/main" id="{3AA736A4-D277-4944-AD74-317E5B6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4381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 Baseline and sklearn tolerance | 2  AdaBoost stages: 1-200 | 3  Forest size and depth | 4  Identical five-fold head-to-head</a:t>
            </a:r>
          </a:p>
        </p:txBody>
      </p:sp>
      <p:sp>
        <p:nvSpPr>
          <p:cNvPr id="15" name="text-53">
            <a:extLst xmlns:a="http://schemas.openxmlformats.org/drawingml/2006/main">
              <a:ext uri="{FF2B5EF4-FFF2-40B4-BE49-F238E27FC236}">
                <a16:creationId xmlns:a16="http://schemas.microsoft.com/office/drawing/2014/main" id="{974F2D9A-4641-4B7A-AE5A-732E6C7E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3815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  Nested label-noise replicates | 6  100 shared bootstrap fits | 7  PCA, K-Means, DBSCAN</a:t>
            </a:r>
          </a:p>
        </p:txBody>
      </p:sp>
      <p:sp>
        <p:nvSpPr>
          <p:cNvPr id="16" name="text-54">
            <a:extLst xmlns:a="http://schemas.openxmlformats.org/drawingml/2006/main">
              <a:ext uri="{FF2B5EF4-FFF2-40B4-BE49-F238E27FC236}">
                <a16:creationId xmlns:a16="http://schemas.microsoft.com/office/drawing/2014/main" id="{D0F12B50-B871-48BC-A471-CDED297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Split first. Fit preprocessing and oversampling inside training only.</a:t>
            </a:r>
          </a:p>
        </p:txBody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B81E6A72-6545-4205-A7EB-453CC6E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2953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5">
            <a:extLst xmlns:a="http://schemas.openxmlformats.org/drawingml/2006/main">
              <a:ext uri="{FF2B5EF4-FFF2-40B4-BE49-F238E27FC236}">
                <a16:creationId xmlns:a16="http://schemas.microsoft.com/office/drawing/2014/main" id="{3F0C28C6-CFA2-4C2E-B859-DC70BA9F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Custom trees stay within reference tolerance on every dataset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0D57D4E2-6E86-4F96-9CD8-6F35F6F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04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0.912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EC4C44EC-FBBF-47B4-B84A-C8C62FE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custom tree accuracy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C16C202C-CC57-46C5-8E01-B5E4C17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04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0.912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F4D49ECF-5332-4E45-AC09-EA16ADE9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sklearn tree accuracy</a:t>
            </a:r>
          </a:p>
        </p:txBody>
      </p:sp>
      <p:sp>
        <p:nvSpPr>
          <p:cNvPr id="6" name="panel-61">
            <a:extLst xmlns:a="http://schemas.openxmlformats.org/drawingml/2006/main">
              <a:ext uri="{FF2B5EF4-FFF2-40B4-BE49-F238E27FC236}">
                <a16:creationId xmlns:a16="http://schemas.microsoft.com/office/drawing/2014/main" id="{648C843A-9178-42AA-80D1-997B028F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7909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897BC49F-799D-4471-A7D5-A0F0956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0.8 pp</a:t>
            </a:r>
          </a:p>
        </p:txBody>
      </p:sp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A196A937-585F-4EAC-B6A0-F9FA5E0C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maximum gap across datasets | required &lt;= 2.0 pp</a:t>
            </a:r>
          </a:p>
        </p:txBody>
      </p:sp>
      <p:cxnSp>
        <p:nvCxnSpPr>
          <p:cNvPr id="43" name="rule-64"/>
          <p:cNvCxnSpPr/>
          <p:nvPr/>
        </p:nvCxnSpPr>
        <p:spPr>
          <a:xfrm xmlns:a="http://schemas.openxmlformats.org/drawingml/2006/main">
            <a:off x="400050" y="371475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-65">
            <a:extLst xmlns:a="http://schemas.openxmlformats.org/drawingml/2006/main">
              <a:ext uri="{FF2B5EF4-FFF2-40B4-BE49-F238E27FC236}">
                <a16:creationId xmlns:a16="http://schemas.microsoft.com/office/drawing/2014/main" id="{0A7CEF04-C456-48C8-99F1-C888C2F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Why the match is credible</a:t>
            </a:r>
          </a:p>
        </p:txBody>
      </p:sp>
      <p:sp>
        <p:nvSpPr>
          <p:cNvPr id="11" name="text-66">
            <a:extLst xmlns:a="http://schemas.openxmlformats.org/drawingml/2006/main">
              <a:ext uri="{FF2B5EF4-FFF2-40B4-BE49-F238E27FC236}">
                <a16:creationId xmlns:a16="http://schemas.microsoft.com/office/drawing/2014/main" id="{37877835-E549-4C16-9D48-95E154C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3524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Sorted midpoint search | weighted impurity | deterministic ties | identical train/test split</a:t>
            </a:r>
          </a:p>
        </p:txBody>
      </p:sp>
      <p:sp>
        <p:nvSpPr>
          <p:cNvPr id="12" name="text-67">
            <a:extLst xmlns:a="http://schemas.openxmlformats.org/drawingml/2006/main">
              <a:ext uri="{FF2B5EF4-FFF2-40B4-BE49-F238E27FC236}">
                <a16:creationId xmlns:a16="http://schemas.microsoft.com/office/drawing/2014/main" id="{D0DEC200-997E-49F1-97DB-4B2D54D1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429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Why agreement is not identity</a:t>
            </a:r>
          </a:p>
        </p:txBody>
      </p:sp>
      <p:sp>
        <p:nvSpPr>
          <p:cNvPr id="13" name="text-68">
            <a:extLst xmlns:a="http://schemas.openxmlformats.org/drawingml/2006/main">
              <a:ext uri="{FF2B5EF4-FFF2-40B4-BE49-F238E27FC236}">
                <a16:creationId xmlns:a16="http://schemas.microsoft.com/office/drawing/2014/main" id="{76C8F1EF-B9B9-47FD-B6E8-20E9D82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3619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Different tie handling can change tree shape; tests and invariants remain necessary.</a:t>
            </a:r>
          </a:p>
        </p:txBody>
      </p:sp>
      <p:sp>
        <p:nvSpPr>
          <p:cNvPr id="14" name="text-69">
            <a:extLst xmlns:a="http://schemas.openxmlformats.org/drawingml/2006/main">
              <a:ext uri="{FF2B5EF4-FFF2-40B4-BE49-F238E27FC236}">
                <a16:creationId xmlns:a16="http://schemas.microsoft.com/office/drawing/2014/main" id="{82C99475-C216-4307-8D87-7308EDE1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286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Acceptance</a:t>
            </a:r>
          </a:p>
        </p:txBody>
      </p:sp>
      <p:sp>
        <p:nvSpPr>
          <p:cNvPr id="15" name="text-70">
            <a:extLst xmlns:a="http://schemas.openxmlformats.org/drawingml/2006/main">
              <a:ext uri="{FF2B5EF4-FFF2-40B4-BE49-F238E27FC236}">
                <a16:creationId xmlns:a16="http://schemas.microsoft.com/office/drawing/2014/main" id="{81195245-2721-467E-B648-88DC507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2286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16" name="text-72">
            <a:extLst xmlns:a="http://schemas.openxmlformats.org/drawingml/2006/main">
              <a:ext uri="{FF2B5EF4-FFF2-40B4-BE49-F238E27FC236}">
                <a16:creationId xmlns:a16="http://schemas.microsoft.com/office/drawing/2014/main" id="{895E5472-18F3-47A5-BB87-3DB190F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82191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52DE664-C797-4FBD-A7E5-818993B9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Scaling exposes different complexity needs</a:t>
            </a:r>
          </a:p>
        </p:txBody>
      </p:sp>
      <p:sp>
        <p:nvSpPr>
          <p:cNvPr id="2" name="panel-73">
            <a:extLst xmlns:a="http://schemas.openxmlformats.org/drawingml/2006/main">
              <a:ext uri="{FF2B5EF4-FFF2-40B4-BE49-F238E27FC236}">
                <a16:creationId xmlns:a16="http://schemas.microsoft.com/office/drawing/2014/main" id="{A9784ACB-57E5-4EA4-88F2-BB15604B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74">
            <a:extLst xmlns:a="http://schemas.openxmlformats.org/drawingml/2006/main">
              <a:ext uri="{FF2B5EF4-FFF2-40B4-BE49-F238E27FC236}">
                <a16:creationId xmlns:a16="http://schemas.microsoft.com/office/drawing/2014/main" id="{4015AEED-CDB3-4C7E-9C06-E5C8C9C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5">
            <a:extLst xmlns:a="http://schemas.openxmlformats.org/drawingml/2006/main">
              <a:ext uri="{FF2B5EF4-FFF2-40B4-BE49-F238E27FC236}">
                <a16:creationId xmlns:a16="http://schemas.microsoft.com/office/drawing/2014/main" id="{4E147701-C0D3-4B12-AAAC-6A833CBC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AdaBoost: 1-200</a:t>
            </a:r>
          </a:p>
        </p:txBody>
      </p:sp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59F15FFB-3541-41CB-89E1-751C23D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Forest: depth 1-20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6C4C8783-E32F-4502-89CA-A1CE7A1C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Best error at 10; later rounds hurt</a:t>
            </a:r>
          </a:p>
        </p:txBody>
      </p:sp>
      <p:sp>
        <p:nvSpPr>
          <p:cNvPr id="7" name="text-78">
            <a:extLst xmlns:a="http://schemas.openxmlformats.org/drawingml/2006/main">
              <a:ext uri="{FF2B5EF4-FFF2-40B4-BE49-F238E27FC236}">
                <a16:creationId xmlns:a16="http://schemas.microsoft.com/office/drawing/2014/main" id="{71724AEF-CD93-443C-B0DB-B8A4FF7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Best depth 19; flexible trees matter</a:t>
            </a:r>
          </a:p>
        </p:txBody>
      </p:sp>
      <p:sp>
        <p:nvSpPr>
          <p:cNvPr id="8" name="text-80">
            <a:extLst xmlns:a="http://schemas.openxmlformats.org/drawingml/2006/main">
              <a:ext uri="{FF2B5EF4-FFF2-40B4-BE49-F238E27FC236}">
                <a16:creationId xmlns:a16="http://schemas.microsoft.com/office/drawing/2014/main" id="{84AC1B68-0207-473E-9022-1B01858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d8331800a4c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09600" y="2158206"/>
            <a:ext cx="5010150" cy="2922588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b02dee110427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572250" y="2158206"/>
            <a:ext cx="5010150" cy="2922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01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7">
            <a:extLst xmlns:a="http://schemas.openxmlformats.org/drawingml/2006/main">
              <a:ext uri="{FF2B5EF4-FFF2-40B4-BE49-F238E27FC236}">
                <a16:creationId xmlns:a16="http://schemas.microsoft.com/office/drawing/2014/main" id="{7504E3F8-8EC4-4B9E-943F-EC0C2107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winner changes with dataset structure</a:t>
            </a:r>
          </a:p>
        </p:txBody>
      </p:sp>
      <p:sp>
        <p:nvSpPr>
          <p:cNvPr id="2" name="panel-81">
            <a:extLst xmlns:a="http://schemas.openxmlformats.org/drawingml/2006/main">
              <a:ext uri="{FF2B5EF4-FFF2-40B4-BE49-F238E27FC236}">
                <a16:creationId xmlns:a16="http://schemas.microsoft.com/office/drawing/2014/main" id="{10EDD091-03E3-4DEE-B445-E0FCDB1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000875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82">
            <a:extLst xmlns:a="http://schemas.openxmlformats.org/drawingml/2006/main">
              <a:ext uri="{FF2B5EF4-FFF2-40B4-BE49-F238E27FC236}">
                <a16:creationId xmlns:a16="http://schemas.microsoft.com/office/drawing/2014/main" id="{96BA8175-015F-46D2-8A13-79B5E3BA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52550"/>
            <a:ext cx="4029075" cy="453390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E3C49371-3664-4B73-BD1F-E0D65BE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FIVE-FOLD MEAN ACCURACY</a:t>
            </a:r>
          </a:p>
        </p:txBody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892DA260-2F84-47F9-835C-9DCC2E8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1905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.9666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89D65EAC-84B4-4CB2-9BCE-15AD5CD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Breast Cancer Ada | RF .9561</a:t>
            </a:r>
          </a:p>
        </p:txBody>
      </p:sp>
      <p:sp>
        <p:nvSpPr>
          <p:cNvPr id="7" name="text-86">
            <a:extLst xmlns:a="http://schemas.openxmlformats.org/drawingml/2006/main">
              <a:ext uri="{FF2B5EF4-FFF2-40B4-BE49-F238E27FC236}">
                <a16:creationId xmlns:a16="http://schemas.microsoft.com/office/drawing/2014/main" id="{6D8DCA23-A74B-4B00-B009-2D74364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1905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.8649</a:t>
            </a:r>
          </a:p>
        </p:txBody>
      </p:sp>
      <p:sp>
        <p:nvSpPr>
          <p:cNvPr id="8" name="text-87">
            <a:extLst xmlns:a="http://schemas.openxmlformats.org/drawingml/2006/main">
              <a:ext uri="{FF2B5EF4-FFF2-40B4-BE49-F238E27FC236}">
                <a16:creationId xmlns:a16="http://schemas.microsoft.com/office/drawing/2014/main" id="{9B326FA0-E165-40C3-9746-034CCB6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Adult RF | Ada .8556</a:t>
            </a:r>
          </a:p>
        </p:txBody>
      </p:sp>
      <p:sp>
        <p:nvSpPr>
          <p:cNvPr id="9" name="text-88">
            <a:extLst xmlns:a="http://schemas.openxmlformats.org/drawingml/2006/main">
              <a:ext uri="{FF2B5EF4-FFF2-40B4-BE49-F238E27FC236}">
                <a16:creationId xmlns:a16="http://schemas.microsoft.com/office/drawing/2014/main" id="{E9D3C45C-BD25-4865-8F08-9F0D22E2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1905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.7938</a:t>
            </a:r>
          </a:p>
        </p:txBody>
      </p:sp>
      <p:sp>
        <p:nvSpPr>
          <p:cNvPr id="10" name="text-89">
            <a:extLst xmlns:a="http://schemas.openxmlformats.org/drawingml/2006/main">
              <a:ext uri="{FF2B5EF4-FFF2-40B4-BE49-F238E27FC236}">
                <a16:creationId xmlns:a16="http://schemas.microsoft.com/office/drawing/2014/main" id="{CD4F3302-E229-4B9D-8136-0F59F23E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530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Covertype RF | Ada .6150</a:t>
            </a:r>
          </a:p>
        </p:txBody>
      </p:sp>
      <p:sp>
        <p:nvSpPr>
          <p:cNvPr id="11" name="text-91">
            <a:extLst xmlns:a="http://schemas.openxmlformats.org/drawingml/2006/main">
              <a:ext uri="{FF2B5EF4-FFF2-40B4-BE49-F238E27FC236}">
                <a16:creationId xmlns:a16="http://schemas.microsoft.com/office/drawing/2014/main" id="{A5145165-6231-45B9-88BE-77F9FE9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c107379694b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09600" y="1656953"/>
            <a:ext cx="6572250" cy="39250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0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EFD47653-5576-4EAE-A5FF-60BD5680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Noise robustness and probability loss tell different stories</a:t>
            </a:r>
          </a:p>
        </p:txBody>
      </p:sp>
      <p:sp>
        <p:nvSpPr>
          <p:cNvPr id="2" name="panel-92">
            <a:extLst xmlns:a="http://schemas.openxmlformats.org/drawingml/2006/main">
              <a:ext uri="{FF2B5EF4-FFF2-40B4-BE49-F238E27FC236}">
                <a16:creationId xmlns:a16="http://schemas.microsoft.com/office/drawing/2014/main" id="{9344A745-25B7-4D4E-BB33-54C096A6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4292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93">
            <a:extLst xmlns:a="http://schemas.openxmlformats.org/drawingml/2006/main">
              <a:ext uri="{FF2B5EF4-FFF2-40B4-BE49-F238E27FC236}">
                <a16:creationId xmlns:a16="http://schemas.microsoft.com/office/drawing/2014/main" id="{7890CEDB-ABF1-4A9C-A772-B7688B17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4292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C3249814-9B1A-4A15-899F-5DAA9921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20% LABEL NOISE | 5 REPLICATES</a:t>
            </a:r>
          </a:p>
        </p:txBody>
      </p:sp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FBC7BF77-0D04-48BD-BC55-5DEE5ED6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BRIER | 100 BOOTSTRAPS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BCD8F043-62F9-4255-9444-694E098A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857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At 20%: AdaBoost -5.96 pp; forest -1.58 pp.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46409B26-4DCA-4A9F-834F-E938A60A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57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Bias^2: AdaBoost .3382; forest .0675. Votes are not calibrated.</a:t>
            </a:r>
          </a:p>
        </p:txBody>
      </p:sp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43F7EB1D-371B-475D-8B8C-B8E0A53C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6aafb701c4ac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09600" y="2028164"/>
            <a:ext cx="5010150" cy="299217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3067b778b4c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609896" y="2000250"/>
            <a:ext cx="4934857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245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9">
            <a:extLst xmlns:a="http://schemas.openxmlformats.org/drawingml/2006/main">
              <a:ext uri="{FF2B5EF4-FFF2-40B4-BE49-F238E27FC236}">
                <a16:creationId xmlns:a16="http://schemas.microsoft.com/office/drawing/2014/main" id="{ECCE8EF8-39B0-4C52-8ABA-EE80E1E7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Clusters reveal geometry, not guaranteed class boundaries</a:t>
            </a:r>
          </a:p>
        </p:txBody>
      </p:sp>
      <p:sp>
        <p:nvSpPr>
          <p:cNvPr id="2" name="panel-100">
            <a:extLst xmlns:a="http://schemas.openxmlformats.org/drawingml/2006/main">
              <a:ext uri="{FF2B5EF4-FFF2-40B4-BE49-F238E27FC236}">
                <a16:creationId xmlns:a16="http://schemas.microsoft.com/office/drawing/2014/main" id="{4A3F93DF-4917-4DFB-851B-0F7BD354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667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101">
            <a:extLst xmlns:a="http://schemas.openxmlformats.org/drawingml/2006/main">
              <a:ext uri="{FF2B5EF4-FFF2-40B4-BE49-F238E27FC236}">
                <a16:creationId xmlns:a16="http://schemas.microsoft.com/office/drawing/2014/main" id="{B9692089-1AF3-4363-A417-6EEB3C96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09700"/>
            <a:ext cx="4343400" cy="44767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3B39A177-4694-450F-973D-E2C873A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379C0F19-950C-48EE-81A3-95558CA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PCs reach &gt;= 90% variance</a:t>
            </a:r>
          </a:p>
        </p:txBody>
      </p:sp>
      <p:cxnSp>
        <p:nvCxnSpPr>
          <p:cNvPr id="40" name="rule-104"/>
          <p:cNvCxnSpPr/>
          <p:nvPr/>
        </p:nvCxnSpPr>
        <p:spPr>
          <a:xfrm xmlns:a="http://schemas.openxmlformats.org/drawingml/2006/main">
            <a:off x="7810500" y="2781300"/>
            <a:ext cx="35242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35890BE1-B334-4E7D-89A0-73976D4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.515</a:t>
            </a:r>
          </a:p>
        </p:txBody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70ACFBBC-3250-4A7C-8E09-462E7C3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K-Means ARI | k = 3</a:t>
            </a:r>
          </a:p>
        </p:txBody>
      </p:sp>
      <p:cxnSp>
        <p:nvCxnSpPr>
          <p:cNvPr id="43" name="rule-107"/>
          <p:cNvCxnSpPr/>
          <p:nvPr/>
        </p:nvCxnSpPr>
        <p:spPr>
          <a:xfrm xmlns:a="http://schemas.openxmlformats.org/drawingml/2006/main">
            <a:off x="7810500" y="4095750"/>
            <a:ext cx="35242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-108">
            <a:extLst xmlns:a="http://schemas.openxmlformats.org/drawingml/2006/main">
              <a:ext uri="{FF2B5EF4-FFF2-40B4-BE49-F238E27FC236}">
                <a16:creationId xmlns:a16="http://schemas.microsoft.com/office/drawing/2014/main" id="{6E0F4FE3-B9EF-462A-98D2-2CEB66BA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1428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6.50%</a:t>
            </a:r>
          </a:p>
        </p:txBody>
      </p:sp>
      <p:sp>
        <p:nvSpPr>
          <p:cNvPr id="11" name="text-109">
            <a:extLst xmlns:a="http://schemas.openxmlformats.org/drawingml/2006/main">
              <a:ext uri="{FF2B5EF4-FFF2-40B4-BE49-F238E27FC236}">
                <a16:creationId xmlns:a16="http://schemas.microsoft.com/office/drawing/2014/main" id="{97DC5B5C-406A-434A-B19E-BDF13AF8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52950"/>
            <a:ext cx="1905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DBSCAN noise | ARI = .030</a:t>
            </a:r>
          </a:p>
        </p:txBody>
      </p:sp>
      <p:sp>
        <p:nvSpPr>
          <p:cNvPr id="12" name="text-110">
            <a:extLst xmlns:a="http://schemas.openxmlformats.org/drawingml/2006/main">
              <a:ext uri="{FF2B5EF4-FFF2-40B4-BE49-F238E27FC236}">
                <a16:creationId xmlns:a16="http://schemas.microsoft.com/office/drawing/2014/main" id="{328212C7-5082-4655-8C21-C4F8983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673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Full dataset n = 569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30D50AB2-8717-4496-B2BA-CEAE2970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9b88cf0cf43f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34551" y="1638300"/>
            <a:ext cx="5398498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96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10">
            <a:extLst xmlns:a="http://schemas.openxmlformats.org/drawingml/2006/main">
              <a:ext uri="{FF2B5EF4-FFF2-40B4-BE49-F238E27FC236}">
                <a16:creationId xmlns:a16="http://schemas.microsoft.com/office/drawing/2014/main" id="{E9AEF3C2-AC51-45E9-9C7A-BB7B9E4D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Bonuses extend the analysis without replacing it</a:t>
            </a:r>
          </a:p>
        </p:txBody>
      </p:sp>
      <p:sp>
        <p:nvSpPr>
          <p:cNvPr id="2" name="panel-113">
            <a:extLst xmlns:a="http://schemas.openxmlformats.org/drawingml/2006/main">
              <a:ext uri="{FF2B5EF4-FFF2-40B4-BE49-F238E27FC236}">
                <a16:creationId xmlns:a16="http://schemas.microsoft.com/office/drawing/2014/main" id="{D34B118C-F592-4739-A18F-0B6E00AE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476875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anel-114">
            <a:extLst xmlns:a="http://schemas.openxmlformats.org/drawingml/2006/main">
              <a:ext uri="{FF2B5EF4-FFF2-40B4-BE49-F238E27FC236}">
                <a16:creationId xmlns:a16="http://schemas.microsoft.com/office/drawing/2014/main" id="{F5306613-8F58-455E-9100-107F9E5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524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E000F139-C6DA-4A96-AD6C-02FF7F4A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SAMME.R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7A00D711-287E-43DF-A4D8-C1697B6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381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BC .9561 to .9649
Adult .8573 to .8687</a:t>
            </a:r>
          </a:p>
        </p:txBody>
      </p:sp>
      <p:cxnSp>
        <p:nvCxnSpPr>
          <p:cNvPr id="42" name="rule-117"/>
          <p:cNvCxnSpPr/>
          <p:nvPr/>
        </p:nvCxnSpPr>
        <p:spPr>
          <a:xfrm xmlns:a="http://schemas.openxmlformats.org/drawingml/2006/main">
            <a:off x="704850" y="3067050"/>
            <a:ext cx="457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191E16D7-3B45-4B9B-9803-BB021D1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Gradient Boosting</a:t>
            </a:r>
          </a:p>
        </p:txBody>
      </p:sp>
      <p:sp>
        <p:nvSpPr>
          <p:cNvPr id="8" name="text-119">
            <a:extLst xmlns:a="http://schemas.openxmlformats.org/drawingml/2006/main">
              <a:ext uri="{FF2B5EF4-FFF2-40B4-BE49-F238E27FC236}">
                <a16:creationId xmlns:a16="http://schemas.microsoft.com/office/drawing/2014/main" id="{BBD73A76-BE12-457B-9D25-761BD523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47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Binary log-loss; BC accuracy .9386, AUC .9899</a:t>
            </a:r>
          </a:p>
        </p:txBody>
      </p:sp>
      <p:cxnSp>
        <p:nvCxnSpPr>
          <p:cNvPr id="45" name="rule-120"/>
          <p:cNvCxnSpPr/>
          <p:nvPr/>
        </p:nvCxnSpPr>
        <p:spPr>
          <a:xfrm xmlns:a="http://schemas.openxmlformats.org/drawingml/2006/main">
            <a:off x="704850" y="4686300"/>
            <a:ext cx="457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-121">
            <a:extLst xmlns:a="http://schemas.openxmlformats.org/drawingml/2006/main">
              <a:ext uri="{FF2B5EF4-FFF2-40B4-BE49-F238E27FC236}">
                <a16:creationId xmlns:a16="http://schemas.microsoft.com/office/drawing/2014/main" id="{825192AE-6F50-4DD7-925D-A7D45E53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Interactive notebook</a:t>
            </a:r>
          </a:p>
        </p:txBody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CADB7AB0-59D1-4601-80DC-8AA7EB6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Executed controls for model and cluster complexity</a:t>
            </a:r>
          </a:p>
        </p:txBody>
      </p:sp>
      <p:sp>
        <p:nvSpPr>
          <p:cNvPr id="12" name="text-123">
            <a:extLst xmlns:a="http://schemas.openxmlformats.org/drawingml/2006/main">
              <a:ext uri="{FF2B5EF4-FFF2-40B4-BE49-F238E27FC236}">
                <a16:creationId xmlns:a16="http://schemas.microsoft.com/office/drawing/2014/main" id="{5FD91AFF-9F3D-452C-811F-6A898E9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t-SNE</a:t>
            </a:r>
          </a:p>
        </p:txBody>
      </p:sp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84147936-86D2-40EF-BF31-7FF4B5B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n=569, perplexity 30 | no global-distance claim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877265EB-BEC2-4697-A8CE-089E1A78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38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88.71% coverage | Ruff clean | mypy clean | AI assistance disclosed</a:t>
            </a:r>
          </a:p>
        </p:txBody>
      </p:sp>
      <p:sp>
        <p:nvSpPr>
          <p:cNvPr id="15" name="text-127">
            <a:extLst xmlns:a="http://schemas.openxmlformats.org/drawingml/2006/main">
              <a:ext uri="{FF2B5EF4-FFF2-40B4-BE49-F238E27FC236}">
                <a16:creationId xmlns:a16="http://schemas.microsoft.com/office/drawing/2014/main" id="{30A0A7A3-90F2-49F5-AD91-BC9AF045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d1cd766f5407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973129" y="2019300"/>
            <a:ext cx="4113141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33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28">
            <a:extLst xmlns:a="http://schemas.openxmlformats.org/drawingml/2006/main">
              <a:ext uri="{FF2B5EF4-FFF2-40B4-BE49-F238E27FC236}">
                <a16:creationId xmlns:a16="http://schemas.microsoft.com/office/drawing/2014/main" id="{7F15E917-5943-4F9E-8B2D-62E7023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THE ANSWER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59B1ED58-333E-4243-AB6E-4FD1A824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287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 universal winner: let the data decide</a:t>
            </a:r>
          </a:p>
        </p:txBody>
      </p:sp>
      <p:cxnSp>
        <p:nvCxnSpPr>
          <p:cNvPr id="20" name="rule-130"/>
          <p:cNvCxnSpPr/>
          <p:nvPr/>
        </p:nvCxnSpPr>
        <p:spPr>
          <a:xfrm xmlns:a="http://schemas.openxmlformats.org/drawingml/2006/main">
            <a:off x="400050" y="234315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9294A2E7-4B21-48C5-9F18-5ECF677A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BOOST</a:t>
            </a:r>
          </a:p>
        </p:txBody>
      </p:sp>
      <p:sp>
        <p:nvSpPr>
          <p:cNvPr id="5" name="text-132">
            <a:extLst xmlns:a="http://schemas.openxmlformats.org/drawingml/2006/main">
              <a:ext uri="{FF2B5EF4-FFF2-40B4-BE49-F238E27FC236}">
                <a16:creationId xmlns:a16="http://schemas.microsoft.com/office/drawing/2014/main" id="{1099F38E-0CDD-4CE1-9061-0D599AE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5048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Breast Cancer: AdaBoost .9666. Sequential correction worked best on this structured binary task.</a:t>
            </a:r>
          </a:p>
        </p:txBody>
      </p:sp>
      <p:sp>
        <p:nvSpPr>
          <p:cNvPr id="6" name="text-133">
            <a:extLst xmlns:a="http://schemas.openxmlformats.org/drawingml/2006/main">
              <a:ext uri="{FF2B5EF4-FFF2-40B4-BE49-F238E27FC236}">
                <a16:creationId xmlns:a16="http://schemas.microsoft.com/office/drawing/2014/main" id="{80A9B74C-7EE0-4198-94CD-BCD59AC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BAG</a:t>
            </a:r>
          </a:p>
        </p:txBody>
      </p:sp>
      <p:sp>
        <p:nvSpPr>
          <p:cNvPr id="7" name="text-134">
            <a:extLst xmlns:a="http://schemas.openxmlformats.org/drawingml/2006/main">
              <a:ext uri="{FF2B5EF4-FFF2-40B4-BE49-F238E27FC236}">
                <a16:creationId xmlns:a16="http://schemas.microsoft.com/office/drawing/2014/main" id="{EA09923C-24F2-4C64-8507-3B995649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5048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Adult RF .8649; Covertype RF .7938. Diverse trees handled mixed and multiclass structure better.</a:t>
            </a:r>
          </a:p>
        </p:txBody>
      </p:sp>
      <p:sp>
        <p:nvSpPr>
          <p:cNvPr id="8" name="panel-135">
            <a:extLst xmlns:a="http://schemas.openxmlformats.org/drawingml/2006/main">
              <a:ext uri="{FF2B5EF4-FFF2-40B4-BE49-F238E27FC236}">
                <a16:creationId xmlns:a16="http://schemas.microsoft.com/office/drawing/2014/main" id="{9CAE8B32-65EC-45A5-9514-0746ABB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136">
            <a:extLst xmlns:a="http://schemas.openxmlformats.org/drawingml/2006/main">
              <a:ext uri="{FF2B5EF4-FFF2-40B4-BE49-F238E27FC236}">
                <a16:creationId xmlns:a16="http://schemas.microsoft.com/office/drawing/2014/main" id="{BA671DAB-0414-44A6-BC44-8AC7696B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6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Release after truthful contribution approval, genuine Git history, final audit, Moodle submission, and v1.0-final.</a:t>
            </a:r>
          </a:p>
        </p:txBody>
      </p:sp>
      <p:sp>
        <p:nvSpPr>
          <p:cNvPr id="10" name="text-137">
            <a:extLst xmlns:a="http://schemas.openxmlformats.org/drawingml/2006/main">
              <a:ext uri="{FF2B5EF4-FFF2-40B4-BE49-F238E27FC236}">
                <a16:creationId xmlns:a16="http://schemas.microsoft.com/office/drawing/2014/main" id="{70494644-FE0E-4187-B0BA-761D25FA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038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Defense focus: weights, OOB coverage, noise, probability loss, and cluster assumptions.</a:t>
            </a:r>
          </a:p>
        </p:txBody>
      </p:sp>
      <p:sp>
        <p:nvSpPr>
          <p:cNvPr id="11" name="text-138">
            <a:extLst xmlns:a="http://schemas.openxmlformats.org/drawingml/2006/main">
              <a:ext uri="{FF2B5EF4-FFF2-40B4-BE49-F238E27FC236}">
                <a16:creationId xmlns:a16="http://schemas.microsoft.com/office/drawing/2014/main" id="{238C133E-CCE6-41AD-B165-6DA1949E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2122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2026-07-17T09:54:17.1740000Z</dcterms:created>
  <dcterms:modified xsi:type="dcterms:W3CDTF">2026-07-17T09:54:17.1740000Z</dcterms:modified>
</coreProperties>
</file>