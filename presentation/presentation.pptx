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0681b0cc6e44bc" /><Relationship Type="http://schemas.openxmlformats.org/officeDocument/2006/relationships/extended-properties" Target="/docProps/app.xml" Id="Ra596b635b29b47ce" /><Relationship Type="http://schemas.openxmlformats.org/officeDocument/2006/relationships/officeDocument" Target="/ppt/presentation.xml" Id="R79ac6c5ce1ac4e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5a4da636084d94"/>
  </p:sldMasterIdLst>
  <p:notesMasterIdLst>
    <p:notesMasterId xmlns:r="http://schemas.openxmlformats.org/officeDocument/2006/relationships" r:id="R08564871a5804ad3"/>
  </p:notesMasterIdLst>
  <p:sldIdLst>
    <p:sldId xmlns:r="http://schemas.openxmlformats.org/officeDocument/2006/relationships" id="256" r:id="Rdc03de7b40d64032"/>
    <p:sldId xmlns:r="http://schemas.openxmlformats.org/officeDocument/2006/relationships" id="257" r:id="R3cccdf5461d741d9"/>
    <p:sldId xmlns:r="http://schemas.openxmlformats.org/officeDocument/2006/relationships" id="258" r:id="R9fa148f881144e71"/>
    <p:sldId xmlns:r="http://schemas.openxmlformats.org/officeDocument/2006/relationships" id="259" r:id="R2b6ec855e3574d95"/>
    <p:sldId xmlns:r="http://schemas.openxmlformats.org/officeDocument/2006/relationships" id="260" r:id="R01ff792310314201"/>
    <p:sldId xmlns:r="http://schemas.openxmlformats.org/officeDocument/2006/relationships" id="261" r:id="R4f5b263c4f3147a5"/>
    <p:sldId xmlns:r="http://schemas.openxmlformats.org/officeDocument/2006/relationships" id="262" r:id="R163ad06ab6bc40e8"/>
    <p:sldId xmlns:r="http://schemas.openxmlformats.org/officeDocument/2006/relationships" id="263" r:id="R412525ac7eb84984"/>
    <p:sldId xmlns:r="http://schemas.openxmlformats.org/officeDocument/2006/relationships" id="264" r:id="R1da15ef931e84b88"/>
    <p:sldId xmlns:r="http://schemas.openxmlformats.org/officeDocument/2006/relationships" id="265" r:id="R540d695492d84bb8"/>
    <p:sldId xmlns:r="http://schemas.openxmlformats.org/officeDocument/2006/relationships" id="266" r:id="R124987eabb9349b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89e0af585c4c7f" /><Relationship Type="http://schemas.openxmlformats.org/officeDocument/2006/relationships/slideMaster" Target="/ppt/slideMasters/slideMaster1.xml" Id="R265a4da636084d94" /><Relationship Type="http://schemas.openxmlformats.org/officeDocument/2006/relationships/notesMaster" Target="/ppt/notesMasters/notesMaster1.xml" Id="R08564871a5804ad3" /><Relationship Type="http://schemas.openxmlformats.org/officeDocument/2006/relationships/presProps" Target="/ppt/presProps.xml" Id="Rb5e5665efeb24254" /><Relationship Type="http://schemas.openxmlformats.org/officeDocument/2006/relationships/tableStyles" Target="/ppt/tableStyles.xml" Id="Rfc2f130e80e648ab" /><Relationship Type="http://schemas.openxmlformats.org/officeDocument/2006/relationships/slide" Target="/ppt/slides/slide1.xml" Id="Rdc03de7b40d64032" /><Relationship Type="http://schemas.openxmlformats.org/officeDocument/2006/relationships/slide" Target="/ppt/slides/slide2.xml" Id="R3cccdf5461d741d9" /><Relationship Type="http://schemas.openxmlformats.org/officeDocument/2006/relationships/slide" Target="/ppt/slides/slide3.xml" Id="R9fa148f881144e71" /><Relationship Type="http://schemas.openxmlformats.org/officeDocument/2006/relationships/slide" Target="/ppt/slides/slide4.xml" Id="R2b6ec855e3574d95" /><Relationship Type="http://schemas.openxmlformats.org/officeDocument/2006/relationships/slide" Target="/ppt/slides/slide5.xml" Id="R01ff792310314201" /><Relationship Type="http://schemas.openxmlformats.org/officeDocument/2006/relationships/slide" Target="/ppt/slides/slide6.xml" Id="R4f5b263c4f3147a5" /><Relationship Type="http://schemas.openxmlformats.org/officeDocument/2006/relationships/slide" Target="/ppt/slides/slide7.xml" Id="R163ad06ab6bc40e8" /><Relationship Type="http://schemas.openxmlformats.org/officeDocument/2006/relationships/slide" Target="/ppt/slides/slide8.xml" Id="R412525ac7eb84984" /><Relationship Type="http://schemas.openxmlformats.org/officeDocument/2006/relationships/slide" Target="/ppt/slides/slide9.xml" Id="R1da15ef931e84b88" /><Relationship Type="http://schemas.openxmlformats.org/officeDocument/2006/relationships/slide" Target="/ppt/slides/slide10.xml" Id="R540d695492d84bb8" /><Relationship Type="http://schemas.openxmlformats.org/officeDocument/2006/relationships/slide" Target="/ppt/slides/slide11.xml" Id="R124987eabb9349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b1b54ce2ff4a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ff8308dc57416c" /><Relationship Type="http://schemas.openxmlformats.org/officeDocument/2006/relationships/notesMaster" Target="/ppt/notesMasters/notesMaster1.xml" Id="R96a832a4be8049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bed4cc231e43f4" /><Relationship Type="http://schemas.openxmlformats.org/officeDocument/2006/relationships/notesMaster" Target="/ppt/notesMasters/notesMaster1.xml" Id="R0a45f37e3df043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9e9c61268741c0" /><Relationship Type="http://schemas.openxmlformats.org/officeDocument/2006/relationships/notesMaster" Target="/ppt/notesMasters/notesMaster1.xml" Id="R385d2848124f42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002feaf7a5425a" /><Relationship Type="http://schemas.openxmlformats.org/officeDocument/2006/relationships/notesMaster" Target="/ppt/notesMasters/notesMaster1.xml" Id="R594148daab3d40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38a625beff440a" /><Relationship Type="http://schemas.openxmlformats.org/officeDocument/2006/relationships/notesMaster" Target="/ppt/notesMasters/notesMaster1.xml" Id="R9ae4b597a8b142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9237eddf0c4b49" /><Relationship Type="http://schemas.openxmlformats.org/officeDocument/2006/relationships/notesMaster" Target="/ppt/notesMasters/notesMaster1.xml" Id="Rfa6df83a187d4d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1a383e70004cc8" /><Relationship Type="http://schemas.openxmlformats.org/officeDocument/2006/relationships/notesMaster" Target="/ppt/notesMasters/notesMaster1.xml" Id="R1988a787fa9f49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778d915cf24662" /><Relationship Type="http://schemas.openxmlformats.org/officeDocument/2006/relationships/notesMaster" Target="/ppt/notesMasters/notesMaster1.xml" Id="R69652e506c3644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d3237ffaba4c32" /><Relationship Type="http://schemas.openxmlformats.org/officeDocument/2006/relationships/notesMaster" Target="/ppt/notesMasters/notesMaster1.xml" Id="R364571d90a3c49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f7c46933334764" /><Relationship Type="http://schemas.openxmlformats.org/officeDocument/2006/relationships/notesMaster" Target="/ppt/notesMasters/notesMaster1.xml" Id="R5bbc13ae8cea4b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1c4eb46cdf4565" /><Relationship Type="http://schemas.openxmlformats.org/officeDocument/2006/relationships/notesMaster" Target="/ppt/notesMasters/notesMaster1.xml" Id="Rf8d2c3b14a564c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27d7d203c54e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57243a140b4a06" /><Relationship Type="http://schemas.openxmlformats.org/officeDocument/2006/relationships/slideLayout" Target="/ppt/slideLayouts/slideLayout1.xml" Id="R55c38b2dc1e04e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c38b2dc1e04e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7d2d94b5b4c49" /><Relationship Type="http://schemas.openxmlformats.org/officeDocument/2006/relationships/image" Target="/ppt/media/image.png" Id="Rdbdea98c50764131" /><Relationship Type="http://schemas.openxmlformats.org/officeDocument/2006/relationships/notesSlide" Target="/ppt/notesSlides/notesSlide1.xml" Id="Ra9dfc116aef242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f8f79c0c34f27" /><Relationship Type="http://schemas.openxmlformats.org/officeDocument/2006/relationships/notesSlide" Target="/ppt/notesSlides/notesSlide2.xml" Id="R2906a674a01240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a3a9b6f574f2b" /><Relationship Type="http://schemas.openxmlformats.org/officeDocument/2006/relationships/notesSlide" Target="/ppt/notesSlides/notesSlide3.xml" Id="Rc05b826a2c2841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fc70196ae4cb2" /><Relationship Type="http://schemas.openxmlformats.org/officeDocument/2006/relationships/notesSlide" Target="/ppt/notesSlides/notesSlide4.xml" Id="R2c79ea81f28c42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700ad60004acc" /><Relationship Type="http://schemas.openxmlformats.org/officeDocument/2006/relationships/notesSlide" Target="/ppt/notesSlides/notesSlide5.xml" Id="R957a7e6926cf44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9ae68708f34876" /><Relationship Type="http://schemas.openxmlformats.org/officeDocument/2006/relationships/image" Target="/ppt/media/image2.png" Id="R3be726a6a2b44ebb" /><Relationship Type="http://schemas.openxmlformats.org/officeDocument/2006/relationships/image" Target="/ppt/media/image3.png" Id="R12d5b26881794172" /><Relationship Type="http://schemas.openxmlformats.org/officeDocument/2006/relationships/notesSlide" Target="/ppt/notesSlides/notesSlide6.xml" Id="Ra0b4b5ef549643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cc36bc71640d5" /><Relationship Type="http://schemas.openxmlformats.org/officeDocument/2006/relationships/image" Target="/ppt/media/image4.png" Id="R3eda5f5c926e4a52" /><Relationship Type="http://schemas.openxmlformats.org/officeDocument/2006/relationships/notesSlide" Target="/ppt/notesSlides/notesSlide7.xml" Id="Rfcf8b9b168234e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c127ca66b4227" /><Relationship Type="http://schemas.openxmlformats.org/officeDocument/2006/relationships/image" Target="/ppt/media/image5.png" Id="R8b12578f4f7b485f" /><Relationship Type="http://schemas.openxmlformats.org/officeDocument/2006/relationships/image" Target="/ppt/media/image6.png" Id="Rcb4e164306c74ab7" /><Relationship Type="http://schemas.openxmlformats.org/officeDocument/2006/relationships/notesSlide" Target="/ppt/notesSlides/notesSlide8.xml" Id="R64409426e8cf43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a1c1436ab4dca" /><Relationship Type="http://schemas.openxmlformats.org/officeDocument/2006/relationships/image" Target="/ppt/media/image7.png" Id="R6395a52c64e740c1" /><Relationship Type="http://schemas.openxmlformats.org/officeDocument/2006/relationships/notesSlide" Target="/ppt/notesSlides/notesSlide9.xml" Id="R4106735fb5894f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127c6abb84b6a" /><Relationship Type="http://schemas.openxmlformats.org/officeDocument/2006/relationships/image" Target="/ppt/media/image8.png" Id="Re0e46bba3f2a422d" /><Relationship Type="http://schemas.openxmlformats.org/officeDocument/2006/relationships/notesSlide" Target="/ppt/notesSlides/notesSlide10.xml" Id="R61fe947221c94a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58d927edc482d" /><Relationship Type="http://schemas.openxmlformats.org/officeDocument/2006/relationships/notesSlide" Target="/ppt/notesSlides/notesSlide11.xml" Id="R82010319e05f404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">
            <a:extLst xmlns:a="http://schemas.openxmlformats.org/drawingml/2006/main">
              <a:ext uri="{FF2B5EF4-FFF2-40B4-BE49-F238E27FC236}">
                <a16:creationId xmlns:a16="http://schemas.microsoft.com/office/drawing/2014/main" id="{08C37AD3-042F-443D-9FE3-77B0D9E5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81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ENSEMBLE METHODS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B9B8AF2-87D0-4934-847C-169C4D2D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53340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When does boosting beat bagging?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A5A3ACAB-EE36-4D88-92E1-63BC512E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238750" cy="1095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A from-scratch study of bias, variance, label noise, imbalance, and data structure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3BBD8807-D087-4887-9C70-25E5C33E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1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Milana Karimova  |  Sharaf Feyzullayev  |  Nijat Agayev  |  Farah Feyzullayev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BC6CA586-B20F-4A83-9EF1-9B8F19B9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3810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AI Academy  |  Spring 2026</a:t>
            </a:r>
          </a:p>
        </p:txBody>
      </p:sp>
      <p:sp>
        <p:nvSpPr>
          <p:cNvPr id="6" name="panel-6">
            <a:extLst xmlns:a="http://schemas.openxmlformats.org/drawingml/2006/main">
              <a:ext uri="{FF2B5EF4-FFF2-40B4-BE49-F238E27FC236}">
                <a16:creationId xmlns:a16="http://schemas.microsoft.com/office/drawing/2014/main" id="{048C90A9-3300-4B89-B551-A1CDFF53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cxnSp>
        <p:nvCxnSpPr>
          <p:cNvPr id="49" name="rule-7"/>
          <p:cNvCxnSpPr/>
          <p:nvPr/>
        </p:nvCxnSpPr>
        <p:spPr>
          <a:xfrm xmlns:a="http://schemas.openxmlformats.org/drawingml/2006/main">
            <a:off x="400050" y="6115050"/>
            <a:ext cx="10715625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AE9BA4CB-1EDD-45EE-952B-0B7F7C02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10300"/>
            <a:ext cx="10287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Full three-dataset run | 28 phases | 81 artifacts | 6 h 52 m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741CADA0-7B6B-47F4-8763-3F801655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10300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ea98c5076413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438900" y="1280515"/>
            <a:ext cx="5181600" cy="383977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7271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2">
            <a:extLst xmlns:a="http://schemas.openxmlformats.org/drawingml/2006/main">
              <a:ext uri="{FF2B5EF4-FFF2-40B4-BE49-F238E27FC236}">
                <a16:creationId xmlns:a16="http://schemas.microsoft.com/office/drawing/2014/main" id="{DBE39C24-36E0-448F-9839-DCCCECA4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The methods attack different errors</a:t>
            </a:r>
          </a:p>
        </p:txBody>
      </p:sp>
      <p:sp>
        <p:nvSpPr>
          <p:cNvPr id="2" name="panel-10">
            <a:extLst xmlns:a="http://schemas.openxmlformats.org/drawingml/2006/main">
              <a:ext uri="{FF2B5EF4-FFF2-40B4-BE49-F238E27FC236}">
                <a16:creationId xmlns:a16="http://schemas.microsoft.com/office/drawing/2014/main" id="{53ADE722-C6F4-4395-BED8-69619B2B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2959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anel-11">
            <a:extLst xmlns:a="http://schemas.openxmlformats.org/drawingml/2006/main">
              <a:ext uri="{FF2B5EF4-FFF2-40B4-BE49-F238E27FC236}">
                <a16:creationId xmlns:a16="http://schemas.microsoft.com/office/drawing/2014/main" id="{4B9E5CE8-9076-490F-BC4A-E059F541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6959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text-12">
            <a:extLst xmlns:a="http://schemas.openxmlformats.org/drawingml/2006/main">
              <a:ext uri="{FF2B5EF4-FFF2-40B4-BE49-F238E27FC236}">
                <a16:creationId xmlns:a16="http://schemas.microsoft.com/office/drawing/2014/main" id="{A43C2859-BAE4-4511-BA85-2317AEC7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572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BOOSTING</a:t>
            </a:r>
          </a:p>
        </p:txBody>
      </p:sp>
      <p:sp>
        <p:nvSpPr>
          <p:cNvPr id="5" name="text-13">
            <a:extLst xmlns:a="http://schemas.openxmlformats.org/drawingml/2006/main">
              <a:ext uri="{FF2B5EF4-FFF2-40B4-BE49-F238E27FC236}">
                <a16:creationId xmlns:a16="http://schemas.microsoft.com/office/drawing/2014/main" id="{AA6929C0-50A2-4C83-9A5B-2111349E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45720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Correct</a:t>
            </a:r>
          </a:p>
        </p:txBody>
      </p:sp>
      <p:sp>
        <p:nvSpPr>
          <p:cNvPr id="6" name="text-14">
            <a:extLst xmlns:a="http://schemas.openxmlformats.org/drawingml/2006/main">
              <a:ext uri="{FF2B5EF4-FFF2-40B4-BE49-F238E27FC236}">
                <a16:creationId xmlns:a16="http://schemas.microsoft.com/office/drawing/2014/main" id="{3A344F0D-2DBF-4EE4-B57D-C24B15D7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42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Fit a stump</a:t>
            </a:r>
          </a:p>
        </p:txBody>
      </p:sp>
      <p:sp>
        <p:nvSpPr>
          <p:cNvPr id="7" name="text-15">
            <a:extLst xmlns:a="http://schemas.openxmlformats.org/drawingml/2006/main">
              <a:ext uri="{FF2B5EF4-FFF2-40B4-BE49-F238E27FC236}">
                <a16:creationId xmlns:a16="http://schemas.microsoft.com/office/drawing/2014/main" id="{12F62C46-149D-4442-8E67-3B067499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67075"/>
            <a:ext cx="457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8" name="text-16">
            <a:extLst xmlns:a="http://schemas.openxmlformats.org/drawingml/2006/main">
              <a:ext uri="{FF2B5EF4-FFF2-40B4-BE49-F238E27FC236}">
                <a16:creationId xmlns:a16="http://schemas.microsoft.com/office/drawing/2014/main" id="{DAABDB47-2B55-4E05-97B5-5707EF35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3850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Raise hard-example weight</a:t>
            </a:r>
          </a:p>
        </p:txBody>
      </p:sp>
      <p:sp>
        <p:nvSpPr>
          <p:cNvPr id="9" name="text-17">
            <a:extLst xmlns:a="http://schemas.openxmlformats.org/drawingml/2006/main">
              <a:ext uri="{FF2B5EF4-FFF2-40B4-BE49-F238E27FC236}">
                <a16:creationId xmlns:a16="http://schemas.microsoft.com/office/drawing/2014/main" id="{35598088-0463-4A08-A9B6-F7C79DDD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42862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Sequential attention can lower residual boundary bias  and can chase corrupted labels.</a:t>
            </a:r>
          </a:p>
        </p:txBody>
      </p:sp>
      <p:sp>
        <p:nvSpPr>
          <p:cNvPr id="10" name="text-18">
            <a:extLst xmlns:a="http://schemas.openxmlformats.org/drawingml/2006/main">
              <a:ext uri="{FF2B5EF4-FFF2-40B4-BE49-F238E27FC236}">
                <a16:creationId xmlns:a16="http://schemas.microsoft.com/office/drawing/2014/main" id="{0F5164EC-5DAC-4F6A-9420-1FCD4490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52600"/>
            <a:ext cx="4572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BAGGING</a:t>
            </a:r>
          </a:p>
        </p:txBody>
      </p:sp>
      <p:sp>
        <p:nvSpPr>
          <p:cNvPr id="11" name="text-19">
            <a:extLst xmlns:a="http://schemas.openxmlformats.org/drawingml/2006/main">
              <a:ext uri="{FF2B5EF4-FFF2-40B4-BE49-F238E27FC236}">
                <a16:creationId xmlns:a16="http://schemas.microsoft.com/office/drawing/2014/main" id="{FC022826-B288-459A-9952-53CB50E3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45720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Average</a:t>
            </a:r>
          </a:p>
        </p:txBody>
      </p:sp>
      <p:sp>
        <p:nvSpPr>
          <p:cNvPr id="12" name="text-20">
            <a:extLst xmlns:a="http://schemas.openxmlformats.org/drawingml/2006/main">
              <a:ext uri="{FF2B5EF4-FFF2-40B4-BE49-F238E27FC236}">
                <a16:creationId xmlns:a16="http://schemas.microsoft.com/office/drawing/2014/main" id="{BF716EA2-0BA6-48BC-B644-6FBC2FF2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33750"/>
            <a:ext cx="1190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Bootstrap</a:t>
            </a:r>
          </a:p>
        </p:txBody>
      </p:sp>
      <p:sp>
        <p:nvSpPr>
          <p:cNvPr id="13" name="text-21">
            <a:extLst xmlns:a="http://schemas.openxmlformats.org/drawingml/2006/main">
              <a:ext uri="{FF2B5EF4-FFF2-40B4-BE49-F238E27FC236}">
                <a16:creationId xmlns:a16="http://schemas.microsoft.com/office/drawing/2014/main" id="{1AF19CE1-397A-49DC-AECF-D7366053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67075"/>
            <a:ext cx="457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14" name="text-22">
            <a:extLst xmlns:a="http://schemas.openxmlformats.org/drawingml/2006/main">
              <a:ext uri="{FF2B5EF4-FFF2-40B4-BE49-F238E27FC236}">
                <a16:creationId xmlns:a16="http://schemas.microsoft.com/office/drawing/2014/main" id="{B88BF11C-8EF2-46AD-8421-3C1DCD13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3375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Decorrelate trees</a:t>
            </a:r>
          </a:p>
        </p:txBody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9E96156E-CBB7-48AB-A382-17A21BF2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86250"/>
            <a:ext cx="4476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Independent variation cancels; shared correlation remains. OOB rows provide an internal check.</a:t>
            </a:r>
          </a:p>
        </p:txBody>
      </p:sp>
      <p:sp>
        <p:nvSpPr>
          <p:cNvPr id="16" name="text-25">
            <a:extLst xmlns:a="http://schemas.openxmlformats.org/drawingml/2006/main">
              <a:ext uri="{FF2B5EF4-FFF2-40B4-BE49-F238E27FC236}">
                <a16:creationId xmlns:a16="http://schemas.microsoft.com/office/drawing/2014/main" id="{EB7A8C6F-C0A2-414B-942B-020890AD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73382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7F4F05BF-1C9F-4275-88D2-FBCED236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Inspectable code  -  not a library wrapper</a:t>
            </a:r>
          </a:p>
        </p:txBody>
      </p:sp>
      <p:sp>
        <p:nvSpPr>
          <p:cNvPr id="2" name="panel-26">
            <a:extLst xmlns:a="http://schemas.openxmlformats.org/drawingml/2006/main">
              <a:ext uri="{FF2B5EF4-FFF2-40B4-BE49-F238E27FC236}">
                <a16:creationId xmlns:a16="http://schemas.microsoft.com/office/drawing/2014/main" id="{5938333B-A7BE-49EB-8D4F-A89382C1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3543300" cy="371475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anel-27">
            <a:extLst xmlns:a="http://schemas.openxmlformats.org/drawingml/2006/main">
              <a:ext uri="{FF2B5EF4-FFF2-40B4-BE49-F238E27FC236}">
                <a16:creationId xmlns:a16="http://schemas.microsoft.com/office/drawing/2014/main" id="{08FEF705-C2AB-4AA7-A9CA-F771C6F7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14500"/>
            <a:ext cx="3543300" cy="371475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anel-28">
            <a:extLst xmlns:a="http://schemas.openxmlformats.org/drawingml/2006/main">
              <a:ext uri="{FF2B5EF4-FFF2-40B4-BE49-F238E27FC236}">
                <a16:creationId xmlns:a16="http://schemas.microsoft.com/office/drawing/2014/main" id="{D52D9311-44E6-4460-972D-F1DC9FA1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3543300" cy="371475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17EB83B8-3E01-4F5A-9BE5-883FC82B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765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6" name="text-30">
            <a:extLst xmlns:a="http://schemas.openxmlformats.org/drawingml/2006/main">
              <a:ext uri="{FF2B5EF4-FFF2-40B4-BE49-F238E27FC236}">
                <a16:creationId xmlns:a16="http://schemas.microsoft.com/office/drawing/2014/main" id="{18FEBB2D-9C00-457F-A101-661FD5F6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762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from-scratch algorithms</a:t>
            </a:r>
          </a:p>
        </p:txBody>
      </p:sp>
      <p:sp>
        <p:nvSpPr>
          <p:cNvPr id="7" name="text-31">
            <a:extLst xmlns:a="http://schemas.openxmlformats.org/drawingml/2006/main">
              <a:ext uri="{FF2B5EF4-FFF2-40B4-BE49-F238E27FC236}">
                <a16:creationId xmlns:a16="http://schemas.microsoft.com/office/drawing/2014/main" id="{9A5F6312-16E9-4F66-9682-DB6A0A34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7622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Tree  |  SAMME  |  Forest
PCA  |  K-Means  |  DBSCAN
Gradient Boosting</a:t>
            </a:r>
          </a:p>
        </p:txBody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65B439BD-CF90-48B2-8A87-6C6DBF30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95500"/>
            <a:ext cx="24765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51</a:t>
            </a:r>
          </a:p>
        </p:txBody>
      </p:sp>
      <p:sp>
        <p:nvSpPr>
          <p:cNvPr id="9" name="text-33">
            <a:extLst xmlns:a="http://schemas.openxmlformats.org/drawingml/2006/main">
              <a:ext uri="{FF2B5EF4-FFF2-40B4-BE49-F238E27FC236}">
                <a16:creationId xmlns:a16="http://schemas.microsoft.com/office/drawing/2014/main" id="{E9E4BE9A-B1F2-47FF-A8C9-B8A10FC7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48000"/>
            <a:ext cx="2762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passing tests; 88.71% coverage</a:t>
            </a:r>
          </a:p>
        </p:txBody>
      </p:sp>
      <p:sp>
        <p:nvSpPr>
          <p:cNvPr id="10" name="text-34">
            <a:extLst xmlns:a="http://schemas.openxmlformats.org/drawingml/2006/main">
              <a:ext uri="{FF2B5EF4-FFF2-40B4-BE49-F238E27FC236}">
                <a16:creationId xmlns:a16="http://schemas.microsoft.com/office/drawing/2014/main" id="{BA5FC024-E325-4A16-96AA-BD745EE6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00500"/>
            <a:ext cx="28575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Weighted splits  |  OOB complements
Empty clusters  |  noise-to-border
Sequential/parallel identity</a:t>
            </a:r>
          </a:p>
        </p:txBody>
      </p:sp>
      <p:sp>
        <p:nvSpPr>
          <p:cNvPr id="11" name="text-35">
            <a:extLst xmlns:a="http://schemas.openxmlformats.org/drawingml/2006/main">
              <a:ext uri="{FF2B5EF4-FFF2-40B4-BE49-F238E27FC236}">
                <a16:creationId xmlns:a16="http://schemas.microsoft.com/office/drawing/2014/main" id="{80844D33-82A0-49B3-9A9B-49363DA1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95500"/>
            <a:ext cx="24765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12" name="text-36">
            <a:extLst xmlns:a="http://schemas.openxmlformats.org/drawingml/2006/main">
              <a:ext uri="{FF2B5EF4-FFF2-40B4-BE49-F238E27FC236}">
                <a16:creationId xmlns:a16="http://schemas.microsoft.com/office/drawing/2014/main" id="{842D4A89-30AA-47AA-ADDA-13AF8B00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2762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binding reproduction command</a:t>
            </a:r>
          </a:p>
        </p:txBody>
      </p:sp>
      <p:sp>
        <p:nvSpPr>
          <p:cNvPr id="13" name="text-37">
            <a:extLst xmlns:a="http://schemas.openxmlformats.org/drawingml/2006/main">
              <a:ext uri="{FF2B5EF4-FFF2-40B4-BE49-F238E27FC236}">
                <a16:creationId xmlns:a16="http://schemas.microsoft.com/office/drawing/2014/main" id="{B456578B-BF3C-4E64-B160-F0B38CB0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00500"/>
            <a:ext cx="28575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python src/experiments/run_all.py
Seed 42  |  manifests  |  raw fold/stage/replicate evidence</a:t>
            </a:r>
          </a:p>
        </p:txBody>
      </p:sp>
      <p:sp>
        <p:nvSpPr>
          <p:cNvPr id="14" name="text-39">
            <a:extLst xmlns:a="http://schemas.openxmlformats.org/drawingml/2006/main">
              <a:ext uri="{FF2B5EF4-FFF2-40B4-BE49-F238E27FC236}">
                <a16:creationId xmlns:a16="http://schemas.microsoft.com/office/drawing/2014/main" id="{69932624-D04F-433F-AE62-26F06A72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613660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itle-4">
            <a:extLst xmlns:a="http://schemas.openxmlformats.org/drawingml/2006/main">
              <a:ext uri="{FF2B5EF4-FFF2-40B4-BE49-F238E27FC236}">
                <a16:creationId xmlns:a16="http://schemas.microsoft.com/office/drawing/2014/main" id="{EE3E9B06-2796-4536-9F3E-9F1ACDB8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4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Three datasets isolate the conditions that should change the winner</a:t>
            </a:r>
          </a:p>
        </p:txBody>
      </p:sp>
      <p:sp>
        <p:nvSpPr>
          <p:cNvPr id="2" name="text-40">
            <a:extLst xmlns:a="http://schemas.openxmlformats.org/drawingml/2006/main">
              <a:ext uri="{FF2B5EF4-FFF2-40B4-BE49-F238E27FC236}">
                <a16:creationId xmlns:a16="http://schemas.microsoft.com/office/drawing/2014/main" id="{876AA110-80AE-4430-BC6C-361D51FF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DATA</a:t>
            </a:r>
          </a:p>
        </p:txBody>
      </p:sp>
      <p:cxnSp>
        <p:nvCxnSpPr>
          <p:cNvPr id="56" name="rule-41"/>
          <p:cNvCxnSpPr/>
          <p:nvPr/>
        </p:nvCxnSpPr>
        <p:spPr>
          <a:xfrm xmlns:a="http://schemas.openxmlformats.org/drawingml/2006/main">
            <a:off x="400050" y="1619250"/>
            <a:ext cx="5334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text-42">
            <a:extLst xmlns:a="http://schemas.openxmlformats.org/drawingml/2006/main">
              <a:ext uri="{FF2B5EF4-FFF2-40B4-BE49-F238E27FC236}">
                <a16:creationId xmlns:a16="http://schemas.microsoft.com/office/drawing/2014/main" id="{C3B275AC-7859-4C71-9DEC-6A2B9CAD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19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Breast Cancer</a:t>
            </a:r>
          </a:p>
        </p:txBody>
      </p:sp>
      <p:sp>
        <p:nvSpPr>
          <p:cNvPr id="5" name="text-43">
            <a:extLst xmlns:a="http://schemas.openxmlformats.org/drawingml/2006/main">
              <a:ext uri="{FF2B5EF4-FFF2-40B4-BE49-F238E27FC236}">
                <a16:creationId xmlns:a16="http://schemas.microsoft.com/office/drawing/2014/main" id="{FAE4B43A-5732-4F5D-8375-0043286D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05000"/>
            <a:ext cx="2857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569 rows | 30 features | balanced binary baseline and Brier study</a:t>
            </a:r>
          </a:p>
        </p:txBody>
      </p:sp>
      <p:cxnSp>
        <p:nvCxnSpPr>
          <p:cNvPr id="59" name="rule-44"/>
          <p:cNvCxnSpPr/>
          <p:nvPr/>
        </p:nvCxnSpPr>
        <p:spPr>
          <a:xfrm xmlns:a="http://schemas.openxmlformats.org/drawingml/2006/main">
            <a:off x="400050" y="2647950"/>
            <a:ext cx="5334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-45">
            <a:extLst xmlns:a="http://schemas.openxmlformats.org/drawingml/2006/main">
              <a:ext uri="{FF2B5EF4-FFF2-40B4-BE49-F238E27FC236}">
                <a16:creationId xmlns:a16="http://schemas.microsoft.com/office/drawing/2014/main" id="{8D0DE5E1-780C-416F-B6B5-0CAB9579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219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Adult Income</a:t>
            </a:r>
          </a:p>
        </p:txBody>
      </p:sp>
      <p:sp>
        <p:nvSpPr>
          <p:cNvPr id="8" name="text-46">
            <a:extLst xmlns:a="http://schemas.openxmlformats.org/drawingml/2006/main">
              <a:ext uri="{FF2B5EF4-FFF2-40B4-BE49-F238E27FC236}">
                <a16:creationId xmlns:a16="http://schemas.microsoft.com/office/drawing/2014/main" id="{A595DE99-C1D0-44F9-8C1C-40B78F3A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52750"/>
            <a:ext cx="2857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48,842 rows | 14 raw features | mixed types, missingness, moderate imbalance</a:t>
            </a:r>
          </a:p>
        </p:txBody>
      </p:sp>
      <p:cxnSp>
        <p:nvCxnSpPr>
          <p:cNvPr id="62" name="rule-47"/>
          <p:cNvCxnSpPr/>
          <p:nvPr/>
        </p:nvCxnSpPr>
        <p:spPr>
          <a:xfrm xmlns:a="http://schemas.openxmlformats.org/drawingml/2006/main">
            <a:off x="400050" y="3695700"/>
            <a:ext cx="5334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text-48">
            <a:extLst xmlns:a="http://schemas.openxmlformats.org/drawingml/2006/main">
              <a:ext uri="{FF2B5EF4-FFF2-40B4-BE49-F238E27FC236}">
                <a16:creationId xmlns:a16="http://schemas.microsoft.com/office/drawing/2014/main" id="{0D838F76-684D-4D28-9423-E7989DEA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0"/>
            <a:ext cx="219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Covertype</a:t>
            </a:r>
          </a:p>
        </p:txBody>
      </p:sp>
      <p:sp>
        <p:nvSpPr>
          <p:cNvPr id="11" name="text-49">
            <a:extLst xmlns:a="http://schemas.openxmlformats.org/drawingml/2006/main">
              <a:ext uri="{FF2B5EF4-FFF2-40B4-BE49-F238E27FC236}">
                <a16:creationId xmlns:a16="http://schemas.microsoft.com/office/drawing/2014/main" id="{29B0AAC8-B0A8-44CC-9D64-9BDE4314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00500"/>
            <a:ext cx="2857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10,000-row subset | 54 features | 7 classes | minority 0.47%</a:t>
            </a:r>
          </a:p>
        </p:txBody>
      </p:sp>
      <p:sp>
        <p:nvSpPr>
          <p:cNvPr id="12" name="panel-50">
            <a:extLst xmlns:a="http://schemas.openxmlformats.org/drawingml/2006/main">
              <a:ext uri="{FF2B5EF4-FFF2-40B4-BE49-F238E27FC236}">
                <a16:creationId xmlns:a16="http://schemas.microsoft.com/office/drawing/2014/main" id="{E273462D-D361-4028-AB2B-DDED5626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38250"/>
            <a:ext cx="5695950" cy="43053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-51">
            <a:extLst xmlns:a="http://schemas.openxmlformats.org/drawingml/2006/main">
              <a:ext uri="{FF2B5EF4-FFF2-40B4-BE49-F238E27FC236}">
                <a16:creationId xmlns:a16="http://schemas.microsoft.com/office/drawing/2014/main" id="{F9489F24-6073-4FD9-AC07-80F6D574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762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SEVEN REQUIRED EXPERIMENTS</a:t>
            </a:r>
          </a:p>
        </p:txBody>
      </p:sp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3AA736A4-D277-4944-AD74-317E5B60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71700"/>
            <a:ext cx="4381500" cy="1666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1  Baseline and sklearn tolerance | 2  AdaBoost stages: 1-200 | 3  Forest size and depth | 4  Identical five-fold head-to-head</a:t>
            </a:r>
          </a:p>
        </p:txBody>
      </p:sp>
      <p:sp>
        <p:nvSpPr>
          <p:cNvPr id="15" name="text-53">
            <a:extLst xmlns:a="http://schemas.openxmlformats.org/drawingml/2006/main">
              <a:ext uri="{FF2B5EF4-FFF2-40B4-BE49-F238E27FC236}">
                <a16:creationId xmlns:a16="http://schemas.microsoft.com/office/drawing/2014/main" id="{974F2D9A-4641-4B7A-AE5A-732E6C7E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4381500" cy="1190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5  Nested label-noise replicates | 6  100 shared bootstrap fits | 7  PCA, K-Means, DBSCAN</a:t>
            </a:r>
          </a:p>
        </p:txBody>
      </p:sp>
      <p:sp>
        <p:nvSpPr>
          <p:cNvPr id="16" name="text-54">
            <a:extLst xmlns:a="http://schemas.openxmlformats.org/drawingml/2006/main">
              <a:ext uri="{FF2B5EF4-FFF2-40B4-BE49-F238E27FC236}">
                <a16:creationId xmlns:a16="http://schemas.microsoft.com/office/drawing/2014/main" id="{D0F12B50-B871-48BC-A471-CDED2972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95950"/>
            <a:ext cx="1057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Split first. Fit preprocessing and oversampling inside training only.</a:t>
            </a:r>
          </a:p>
        </p:txBody>
      </p:sp>
      <p:sp>
        <p:nvSpPr>
          <p:cNvPr id="17" name="text-56">
            <a:extLst xmlns:a="http://schemas.openxmlformats.org/drawingml/2006/main">
              <a:ext uri="{FF2B5EF4-FFF2-40B4-BE49-F238E27FC236}">
                <a16:creationId xmlns:a16="http://schemas.microsoft.com/office/drawing/2014/main" id="{B81E6A72-6545-4205-A7EB-453CC6EB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929537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5">
            <a:extLst xmlns:a="http://schemas.openxmlformats.org/drawingml/2006/main">
              <a:ext uri="{FF2B5EF4-FFF2-40B4-BE49-F238E27FC236}">
                <a16:creationId xmlns:a16="http://schemas.microsoft.com/office/drawing/2014/main" id="{3F0C28C6-CFA2-4C2E-B859-DC70BA9F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Custom trees stay within reference tolerance on every dataset</a:t>
            </a:r>
          </a:p>
        </p:txBody>
      </p:sp>
      <p:sp>
        <p:nvSpPr>
          <p:cNvPr id="2" name="text-57">
            <a:extLst xmlns:a="http://schemas.openxmlformats.org/drawingml/2006/main">
              <a:ext uri="{FF2B5EF4-FFF2-40B4-BE49-F238E27FC236}">
                <a16:creationId xmlns:a16="http://schemas.microsoft.com/office/drawing/2014/main" id="{0D57D4E2-6E86-4F96-9CD8-6F35F6F9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3048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0.912</a:t>
            </a:r>
          </a:p>
        </p:txBody>
      </p:sp>
      <p:sp>
        <p:nvSpPr>
          <p:cNvPr id="3" name="text-58">
            <a:extLst xmlns:a="http://schemas.openxmlformats.org/drawingml/2006/main">
              <a:ext uri="{FF2B5EF4-FFF2-40B4-BE49-F238E27FC236}">
                <a16:creationId xmlns:a16="http://schemas.microsoft.com/office/drawing/2014/main" id="{EC4C44EC-FBBF-47B4-B84A-C8C62FE0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304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custom tree accuracy</a:t>
            </a:r>
          </a:p>
        </p:txBody>
      </p:sp>
      <p:sp>
        <p:nvSpPr>
          <p:cNvPr id="4" name="text-59">
            <a:extLst xmlns:a="http://schemas.openxmlformats.org/drawingml/2006/main">
              <a:ext uri="{FF2B5EF4-FFF2-40B4-BE49-F238E27FC236}">
                <a16:creationId xmlns:a16="http://schemas.microsoft.com/office/drawing/2014/main" id="{C16C202C-CC57-46C5-8E01-B5E4C17F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048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0.912</a:t>
            </a:r>
          </a:p>
        </p:txBody>
      </p:sp>
      <p:sp>
        <p:nvSpPr>
          <p:cNvPr id="5" name="text-60">
            <a:extLst xmlns:a="http://schemas.openxmlformats.org/drawingml/2006/main">
              <a:ext uri="{FF2B5EF4-FFF2-40B4-BE49-F238E27FC236}">
                <a16:creationId xmlns:a16="http://schemas.microsoft.com/office/drawing/2014/main" id="{F4D49ECF-5332-4E45-AC09-EA16ADE9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62250"/>
            <a:ext cx="304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sklearn tree accuracy</a:t>
            </a:r>
          </a:p>
        </p:txBody>
      </p:sp>
      <p:sp>
        <p:nvSpPr>
          <p:cNvPr id="6" name="panel-61">
            <a:extLst xmlns:a="http://schemas.openxmlformats.org/drawingml/2006/main">
              <a:ext uri="{FF2B5EF4-FFF2-40B4-BE49-F238E27FC236}">
                <a16:creationId xmlns:a16="http://schemas.microsoft.com/office/drawing/2014/main" id="{648C843A-9178-42AA-80D1-997B028F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24000"/>
            <a:ext cx="3790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-62">
            <a:extLst xmlns:a="http://schemas.openxmlformats.org/drawingml/2006/main">
              <a:ext uri="{FF2B5EF4-FFF2-40B4-BE49-F238E27FC236}">
                <a16:creationId xmlns:a16="http://schemas.microsoft.com/office/drawing/2014/main" id="{897BC49F-799D-4471-A7D5-A0F09562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47850"/>
            <a:ext cx="3048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0.8 pp</a:t>
            </a:r>
          </a:p>
        </p:txBody>
      </p:sp>
      <p:sp>
        <p:nvSpPr>
          <p:cNvPr id="8" name="text-63">
            <a:extLst xmlns:a="http://schemas.openxmlformats.org/drawingml/2006/main">
              <a:ext uri="{FF2B5EF4-FFF2-40B4-BE49-F238E27FC236}">
                <a16:creationId xmlns:a16="http://schemas.microsoft.com/office/drawing/2014/main" id="{A196A937-585F-4EAC-B6A0-F9FA5E0C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71750"/>
            <a:ext cx="3048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maximum gap across datasets | required &lt;= 2.0 pp</a:t>
            </a:r>
          </a:p>
        </p:txBody>
      </p:sp>
      <p:cxnSp>
        <p:nvCxnSpPr>
          <p:cNvPr id="61" name="rule-64"/>
          <p:cNvCxnSpPr/>
          <p:nvPr/>
        </p:nvCxnSpPr>
        <p:spPr>
          <a:xfrm xmlns:a="http://schemas.openxmlformats.org/drawingml/2006/main">
            <a:off x="400050" y="3714750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text-65">
            <a:extLst xmlns:a="http://schemas.openxmlformats.org/drawingml/2006/main">
              <a:ext uri="{FF2B5EF4-FFF2-40B4-BE49-F238E27FC236}">
                <a16:creationId xmlns:a16="http://schemas.microsoft.com/office/drawing/2014/main" id="{0A7CEF04-C456-48C8-99F1-C888C2FE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3429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Why the match is credible</a:t>
            </a:r>
          </a:p>
        </p:txBody>
      </p:sp>
      <p:sp>
        <p:nvSpPr>
          <p:cNvPr id="11" name="text-66">
            <a:extLst xmlns:a="http://schemas.openxmlformats.org/drawingml/2006/main">
              <a:ext uri="{FF2B5EF4-FFF2-40B4-BE49-F238E27FC236}">
                <a16:creationId xmlns:a16="http://schemas.microsoft.com/office/drawing/2014/main" id="{37877835-E549-4C16-9D48-95E154CB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35242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Sorted midpoint search | weighted impurity | deterministic ties | identical train/test split</a:t>
            </a:r>
          </a:p>
        </p:txBody>
      </p:sp>
      <p:sp>
        <p:nvSpPr>
          <p:cNvPr id="12" name="text-67">
            <a:extLst xmlns:a="http://schemas.openxmlformats.org/drawingml/2006/main">
              <a:ext uri="{FF2B5EF4-FFF2-40B4-BE49-F238E27FC236}">
                <a16:creationId xmlns:a16="http://schemas.microsoft.com/office/drawing/2014/main" id="{D0DEC200-997E-49F1-97DB-4B2D54D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95750"/>
            <a:ext cx="3429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Why agreement is not identity</a:t>
            </a:r>
          </a:p>
        </p:txBody>
      </p:sp>
      <p:sp>
        <p:nvSpPr>
          <p:cNvPr id="13" name="text-68">
            <a:extLst xmlns:a="http://schemas.openxmlformats.org/drawingml/2006/main">
              <a:ext uri="{FF2B5EF4-FFF2-40B4-BE49-F238E27FC236}">
                <a16:creationId xmlns:a16="http://schemas.microsoft.com/office/drawing/2014/main" id="{76C8F1EF-B9B9-47FD-B6E8-20E9D823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6195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Different tie handling can change tree shape; tests and invariants remain necessary.</a:t>
            </a:r>
          </a:p>
        </p:txBody>
      </p:sp>
      <p:sp>
        <p:nvSpPr>
          <p:cNvPr id="14" name="text-69">
            <a:extLst xmlns:a="http://schemas.openxmlformats.org/drawingml/2006/main">
              <a:ext uri="{FF2B5EF4-FFF2-40B4-BE49-F238E27FC236}">
                <a16:creationId xmlns:a16="http://schemas.microsoft.com/office/drawing/2014/main" id="{82C99475-C216-4307-8D87-7308EDE1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2286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Acceptance</a:t>
            </a:r>
          </a:p>
        </p:txBody>
      </p:sp>
      <p:sp>
        <p:nvSpPr>
          <p:cNvPr id="15" name="text-70">
            <a:extLst xmlns:a="http://schemas.openxmlformats.org/drawingml/2006/main">
              <a:ext uri="{FF2B5EF4-FFF2-40B4-BE49-F238E27FC236}">
                <a16:creationId xmlns:a16="http://schemas.microsoft.com/office/drawing/2014/main" id="{81195245-2721-467E-B648-88DC5070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48200"/>
            <a:ext cx="2286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PASS</a:t>
            </a:r>
          </a:p>
        </p:txBody>
      </p:sp>
      <p:sp>
        <p:nvSpPr>
          <p:cNvPr id="16" name="text-72">
            <a:extLst xmlns:a="http://schemas.openxmlformats.org/drawingml/2006/main">
              <a:ext uri="{FF2B5EF4-FFF2-40B4-BE49-F238E27FC236}">
                <a16:creationId xmlns:a16="http://schemas.microsoft.com/office/drawing/2014/main" id="{895E5472-18F3-47A5-BB87-3DB190F9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821913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6">
            <a:extLst xmlns:a="http://schemas.openxmlformats.org/drawingml/2006/main">
              <a:ext uri="{FF2B5EF4-FFF2-40B4-BE49-F238E27FC236}">
                <a16:creationId xmlns:a16="http://schemas.microsoft.com/office/drawing/2014/main" id="{B52DE664-C797-4FBD-A7E5-818993B9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Scaling exposes different complexity needs</a:t>
            </a:r>
          </a:p>
        </p:txBody>
      </p:sp>
      <p:sp>
        <p:nvSpPr>
          <p:cNvPr id="2" name="panel-73">
            <a:extLst xmlns:a="http://schemas.openxmlformats.org/drawingml/2006/main">
              <a:ext uri="{FF2B5EF4-FFF2-40B4-BE49-F238E27FC236}">
                <a16:creationId xmlns:a16="http://schemas.microsoft.com/office/drawing/2014/main" id="{A9784ACB-57E5-4EA4-88F2-BB15604B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anel-74">
            <a:extLst xmlns:a="http://schemas.openxmlformats.org/drawingml/2006/main">
              <a:ext uri="{FF2B5EF4-FFF2-40B4-BE49-F238E27FC236}">
                <a16:creationId xmlns:a16="http://schemas.microsoft.com/office/drawing/2014/main" id="{4015AEED-CDB3-4C7E-9C06-E5C8C9C6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28750"/>
            <a:ext cx="5429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text-75">
            <a:extLst xmlns:a="http://schemas.openxmlformats.org/drawingml/2006/main">
              <a:ext uri="{FF2B5EF4-FFF2-40B4-BE49-F238E27FC236}">
                <a16:creationId xmlns:a16="http://schemas.microsoft.com/office/drawing/2014/main" id="{4E147701-C0D3-4B12-AAAC-6A833CBC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AdaBoost: 1-200</a:t>
            </a:r>
          </a:p>
        </p:txBody>
      </p:sp>
      <p:sp>
        <p:nvSpPr>
          <p:cNvPr id="5" name="text-76">
            <a:extLst xmlns:a="http://schemas.openxmlformats.org/drawingml/2006/main">
              <a:ext uri="{FF2B5EF4-FFF2-40B4-BE49-F238E27FC236}">
                <a16:creationId xmlns:a16="http://schemas.microsoft.com/office/drawing/2014/main" id="{59F15FFB-3541-41CB-89E1-751C23D4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Forest: depth 1-20</a:t>
            </a:r>
          </a:p>
        </p:txBody>
      </p:sp>
      <p:sp>
        <p:nvSpPr>
          <p:cNvPr id="6" name="text-77">
            <a:extLst xmlns:a="http://schemas.openxmlformats.org/drawingml/2006/main">
              <a:ext uri="{FF2B5EF4-FFF2-40B4-BE49-F238E27FC236}">
                <a16:creationId xmlns:a16="http://schemas.microsoft.com/office/drawing/2014/main" id="{6C4C8783-E32F-4502-89CA-A1CE7A1C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Best error at 10; later rounds hurt</a:t>
            </a:r>
          </a:p>
        </p:txBody>
      </p:sp>
      <p:sp>
        <p:nvSpPr>
          <p:cNvPr id="7" name="text-78">
            <a:extLst xmlns:a="http://schemas.openxmlformats.org/drawingml/2006/main">
              <a:ext uri="{FF2B5EF4-FFF2-40B4-BE49-F238E27FC236}">
                <a16:creationId xmlns:a16="http://schemas.microsoft.com/office/drawing/2014/main" id="{71724AEF-CD93-443C-B0DB-B8A4FF70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81625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Best depth 19; flexible trees matter</a:t>
            </a:r>
          </a:p>
        </p:txBody>
      </p:sp>
      <p:sp>
        <p:nvSpPr>
          <p:cNvPr id="8" name="text-80">
            <a:extLst xmlns:a="http://schemas.openxmlformats.org/drawingml/2006/main">
              <a:ext uri="{FF2B5EF4-FFF2-40B4-BE49-F238E27FC236}">
                <a16:creationId xmlns:a16="http://schemas.microsoft.com/office/drawing/2014/main" id="{84AC1B68-0207-473E-9022-1B01858A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726a6a2b44eb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09600" y="2158206"/>
            <a:ext cx="5010150" cy="2922588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5b2688179417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572250" y="2158206"/>
            <a:ext cx="5010150" cy="29225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1014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7">
            <a:extLst xmlns:a="http://schemas.openxmlformats.org/drawingml/2006/main">
              <a:ext uri="{FF2B5EF4-FFF2-40B4-BE49-F238E27FC236}">
                <a16:creationId xmlns:a16="http://schemas.microsoft.com/office/drawing/2014/main" id="{7504E3F8-8EC4-4B9E-943F-EC0C2107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The winner changes with dataset structure</a:t>
            </a:r>
          </a:p>
        </p:txBody>
      </p:sp>
      <p:sp>
        <p:nvSpPr>
          <p:cNvPr id="2" name="panel-81">
            <a:extLst xmlns:a="http://schemas.openxmlformats.org/drawingml/2006/main">
              <a:ext uri="{FF2B5EF4-FFF2-40B4-BE49-F238E27FC236}">
                <a16:creationId xmlns:a16="http://schemas.microsoft.com/office/drawing/2014/main" id="{10EDD091-03E3-4DEE-B445-E0FCDB12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000875" cy="4533900"/>
          </a:xfrm>
          <a:prstGeom xmlns:a="http://schemas.openxmlformats.org/drawingml/2006/main" prst="roundRect">
            <a:avLst>
              <a:gd name="adj" fmla="val 16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anel-82">
            <a:extLst xmlns:a="http://schemas.openxmlformats.org/drawingml/2006/main">
              <a:ext uri="{FF2B5EF4-FFF2-40B4-BE49-F238E27FC236}">
                <a16:creationId xmlns:a16="http://schemas.microsoft.com/office/drawing/2014/main" id="{96BA8175-015F-46D2-8A13-79B5E3BA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52550"/>
            <a:ext cx="4029075" cy="4533900"/>
          </a:xfrm>
          <a:prstGeom xmlns:a="http://schemas.openxmlformats.org/drawingml/2006/main" prst="roundRect">
            <a:avLst>
              <a:gd name="adj" fmla="val 189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text-83">
            <a:extLst xmlns:a="http://schemas.openxmlformats.org/drawingml/2006/main">
              <a:ext uri="{FF2B5EF4-FFF2-40B4-BE49-F238E27FC236}">
                <a16:creationId xmlns:a16="http://schemas.microsoft.com/office/drawing/2014/main" id="{E3C49371-3664-4B73-BD1F-E0D65BE8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764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FIVE-FOLD MEAN ACCURACY</a:t>
            </a:r>
          </a:p>
        </p:txBody>
      </p:sp>
      <p:sp>
        <p:nvSpPr>
          <p:cNvPr id="5" name="text-84">
            <a:extLst xmlns:a="http://schemas.openxmlformats.org/drawingml/2006/main">
              <a:ext uri="{FF2B5EF4-FFF2-40B4-BE49-F238E27FC236}">
                <a16:creationId xmlns:a16="http://schemas.microsoft.com/office/drawing/2014/main" id="{892DA260-2F84-47F9-835C-9DCC2E8F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1905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.9666</a:t>
            </a:r>
          </a:p>
        </p:txBody>
      </p:sp>
      <p:sp>
        <p:nvSpPr>
          <p:cNvPr id="6" name="text-85">
            <a:extLst xmlns:a="http://schemas.openxmlformats.org/drawingml/2006/main">
              <a:ext uri="{FF2B5EF4-FFF2-40B4-BE49-F238E27FC236}">
                <a16:creationId xmlns:a16="http://schemas.microsoft.com/office/drawing/2014/main" id="{89D65EAC-84B4-4CB2-9BCE-15AD5CD3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38450"/>
            <a:ext cx="2857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Breast Cancer Ada | RF .9561</a:t>
            </a:r>
          </a:p>
        </p:txBody>
      </p:sp>
      <p:sp>
        <p:nvSpPr>
          <p:cNvPr id="7" name="text-86">
            <a:extLst xmlns:a="http://schemas.openxmlformats.org/drawingml/2006/main">
              <a:ext uri="{FF2B5EF4-FFF2-40B4-BE49-F238E27FC236}">
                <a16:creationId xmlns:a16="http://schemas.microsoft.com/office/drawing/2014/main" id="{6D8DCA23-A74B-4B00-B009-2D743643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48050"/>
            <a:ext cx="1905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.8649</a:t>
            </a:r>
          </a:p>
        </p:txBody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9B326FA0-E165-40C3-9746-034CCB68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95750"/>
            <a:ext cx="304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Adult RF | Ada .8556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E9D3C45C-BD25-4865-8F08-9F0D22E2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05350"/>
            <a:ext cx="1905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.7938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CD4F3302-E229-4B9D-8136-0F59F23E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353050"/>
            <a:ext cx="2857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Covertype RF | Ada .6150</a:t>
            </a:r>
          </a:p>
        </p:txBody>
      </p:sp>
      <p:sp>
        <p:nvSpPr>
          <p:cNvPr id="11" name="text-91">
            <a:extLst xmlns:a="http://schemas.openxmlformats.org/drawingml/2006/main">
              <a:ext uri="{FF2B5EF4-FFF2-40B4-BE49-F238E27FC236}">
                <a16:creationId xmlns:a16="http://schemas.microsoft.com/office/drawing/2014/main" id="{A5145165-6231-45B9-88BE-77F9FE93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a5f5c926e4a5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09600" y="1656953"/>
            <a:ext cx="6572250" cy="392509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906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8">
            <a:extLst xmlns:a="http://schemas.openxmlformats.org/drawingml/2006/main">
              <a:ext uri="{FF2B5EF4-FFF2-40B4-BE49-F238E27FC236}">
                <a16:creationId xmlns:a16="http://schemas.microsoft.com/office/drawing/2014/main" id="{EFD47653-5576-4EAE-A5FF-60BD5680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Noise robustness and probability loss tell different stories</a:t>
            </a:r>
          </a:p>
        </p:txBody>
      </p:sp>
      <p:sp>
        <p:nvSpPr>
          <p:cNvPr id="2" name="panel-92">
            <a:extLst xmlns:a="http://schemas.openxmlformats.org/drawingml/2006/main">
              <a:ext uri="{FF2B5EF4-FFF2-40B4-BE49-F238E27FC236}">
                <a16:creationId xmlns:a16="http://schemas.microsoft.com/office/drawing/2014/main" id="{9344A745-25B7-4D4E-BB33-54C096A6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417195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anel-93">
            <a:extLst xmlns:a="http://schemas.openxmlformats.org/drawingml/2006/main">
              <a:ext uri="{FF2B5EF4-FFF2-40B4-BE49-F238E27FC236}">
                <a16:creationId xmlns:a16="http://schemas.microsoft.com/office/drawing/2014/main" id="{7890CEDB-ABF1-4A9C-A772-B7688B17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28750"/>
            <a:ext cx="5429250" cy="417195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text-94">
            <a:extLst xmlns:a="http://schemas.openxmlformats.org/drawingml/2006/main">
              <a:ext uri="{FF2B5EF4-FFF2-40B4-BE49-F238E27FC236}">
                <a16:creationId xmlns:a16="http://schemas.microsoft.com/office/drawing/2014/main" id="{C3249814-9B1A-4A15-899F-5DAA9921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42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20% LABEL NOISE | 5 REPLICATES</a:t>
            </a:r>
          </a:p>
        </p:txBody>
      </p:sp>
      <p:sp>
        <p:nvSpPr>
          <p:cNvPr id="5" name="text-95">
            <a:extLst xmlns:a="http://schemas.openxmlformats.org/drawingml/2006/main">
              <a:ext uri="{FF2B5EF4-FFF2-40B4-BE49-F238E27FC236}">
                <a16:creationId xmlns:a16="http://schemas.microsoft.com/office/drawing/2014/main" id="{FBC7BF77-0D04-48BD-BC55-5DEE5ED6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342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BRIER | 100 BOOTSTRAPS</a:t>
            </a:r>
          </a:p>
        </p:txBody>
      </p:sp>
      <p:sp>
        <p:nvSpPr>
          <p:cNvPr id="6" name="text-96">
            <a:extLst xmlns:a="http://schemas.openxmlformats.org/drawingml/2006/main">
              <a:ext uri="{FF2B5EF4-FFF2-40B4-BE49-F238E27FC236}">
                <a16:creationId xmlns:a16="http://schemas.microsoft.com/office/drawing/2014/main" id="{BCD8F043-62F9-4255-9444-694E098A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48577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At 20%: AdaBoost -5.96 pp; forest -1.58 pp.</a:t>
            </a:r>
          </a:p>
        </p:txBody>
      </p:sp>
      <p:sp>
        <p:nvSpPr>
          <p:cNvPr id="7" name="text-97">
            <a:extLst xmlns:a="http://schemas.openxmlformats.org/drawingml/2006/main">
              <a:ext uri="{FF2B5EF4-FFF2-40B4-BE49-F238E27FC236}">
                <a16:creationId xmlns:a16="http://schemas.microsoft.com/office/drawing/2014/main" id="{46409B26-4DCA-4A9F-834F-E938A60A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19700"/>
            <a:ext cx="48577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Bias^2: AdaBoost .3382; forest .0675. Votes are not calibrated.</a:t>
            </a:r>
          </a:p>
        </p:txBody>
      </p:sp>
      <p:sp>
        <p:nvSpPr>
          <p:cNvPr id="8" name="text-99">
            <a:extLst xmlns:a="http://schemas.openxmlformats.org/drawingml/2006/main">
              <a:ext uri="{FF2B5EF4-FFF2-40B4-BE49-F238E27FC236}">
                <a16:creationId xmlns:a16="http://schemas.microsoft.com/office/drawing/2014/main" id="{43F7EB1D-371B-475D-8B8C-B8E0A53C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2578f4f7b485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09600" y="2028164"/>
            <a:ext cx="5010150" cy="2992173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e164306c74ab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609896" y="2000250"/>
            <a:ext cx="4934857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8245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itle-9">
            <a:extLst xmlns:a="http://schemas.openxmlformats.org/drawingml/2006/main">
              <a:ext uri="{FF2B5EF4-FFF2-40B4-BE49-F238E27FC236}">
                <a16:creationId xmlns:a16="http://schemas.microsoft.com/office/drawing/2014/main" id="{ECCE8EF8-39B0-4C52-8ABA-EE80E1E7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Clusters reveal geometry, not guaranteed class boundaries</a:t>
            </a:r>
          </a:p>
        </p:txBody>
      </p:sp>
      <p:sp>
        <p:nvSpPr>
          <p:cNvPr id="2" name="panel-100">
            <a:extLst xmlns:a="http://schemas.openxmlformats.org/drawingml/2006/main">
              <a:ext uri="{FF2B5EF4-FFF2-40B4-BE49-F238E27FC236}">
                <a16:creationId xmlns:a16="http://schemas.microsoft.com/office/drawing/2014/main" id="{4A3F93DF-4917-4DFB-851B-0F7BD354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66675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anel-101">
            <a:extLst xmlns:a="http://schemas.openxmlformats.org/drawingml/2006/main">
              <a:ext uri="{FF2B5EF4-FFF2-40B4-BE49-F238E27FC236}">
                <a16:creationId xmlns:a16="http://schemas.microsoft.com/office/drawing/2014/main" id="{B9692089-1AF3-4363-A417-6EEB3C96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409700"/>
            <a:ext cx="4343400" cy="447675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text-102">
            <a:extLst xmlns:a="http://schemas.openxmlformats.org/drawingml/2006/main">
              <a:ext uri="{FF2B5EF4-FFF2-40B4-BE49-F238E27FC236}">
                <a16:creationId xmlns:a16="http://schemas.microsoft.com/office/drawing/2014/main" id="{3B39A177-4694-450F-973D-E2C873A5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1333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5" name="text-103">
            <a:extLst xmlns:a="http://schemas.openxmlformats.org/drawingml/2006/main">
              <a:ext uri="{FF2B5EF4-FFF2-40B4-BE49-F238E27FC236}">
                <a16:creationId xmlns:a16="http://schemas.microsoft.com/office/drawing/2014/main" id="{379C0F19-950C-48EE-81A3-95558CAB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24050"/>
            <a:ext cx="2190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PCs reach &gt;= 90% variance</a:t>
            </a:r>
          </a:p>
        </p:txBody>
      </p:sp>
      <p:cxnSp>
        <p:nvCxnSpPr>
          <p:cNvPr id="60" name="rule-104"/>
          <p:cNvCxnSpPr/>
          <p:nvPr/>
        </p:nvCxnSpPr>
        <p:spPr>
          <a:xfrm xmlns:a="http://schemas.openxmlformats.org/drawingml/2006/main">
            <a:off x="7810500" y="2781300"/>
            <a:ext cx="35242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-105">
            <a:extLst xmlns:a="http://schemas.openxmlformats.org/drawingml/2006/main">
              <a:ext uri="{FF2B5EF4-FFF2-40B4-BE49-F238E27FC236}">
                <a16:creationId xmlns:a16="http://schemas.microsoft.com/office/drawing/2014/main" id="{35890BE1-B334-4E7D-89A0-73976D4A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05150"/>
            <a:ext cx="1333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.515</a:t>
            </a:r>
          </a:p>
        </p:txBody>
      </p:sp>
      <p:sp>
        <p:nvSpPr>
          <p:cNvPr id="8" name="text-106">
            <a:extLst xmlns:a="http://schemas.openxmlformats.org/drawingml/2006/main">
              <a:ext uri="{FF2B5EF4-FFF2-40B4-BE49-F238E27FC236}">
                <a16:creationId xmlns:a16="http://schemas.microsoft.com/office/drawing/2014/main" id="{70ACFBBC-3250-4A7C-8E09-462E7C32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19450"/>
            <a:ext cx="219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K-Means ARI | k = 3</a:t>
            </a:r>
          </a:p>
        </p:txBody>
      </p:sp>
      <p:cxnSp>
        <p:nvCxnSpPr>
          <p:cNvPr id="63" name="rule-107"/>
          <p:cNvCxnSpPr/>
          <p:nvPr/>
        </p:nvCxnSpPr>
        <p:spPr>
          <a:xfrm xmlns:a="http://schemas.openxmlformats.org/drawingml/2006/main">
            <a:off x="7810500" y="4095750"/>
            <a:ext cx="35242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text-108">
            <a:extLst xmlns:a="http://schemas.openxmlformats.org/drawingml/2006/main">
              <a:ext uri="{FF2B5EF4-FFF2-40B4-BE49-F238E27FC236}">
                <a16:creationId xmlns:a16="http://schemas.microsoft.com/office/drawing/2014/main" id="{6E0F4FE3-B9EF-462A-98D2-2CEB66BA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38650"/>
            <a:ext cx="1428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6.50%</a:t>
            </a:r>
          </a:p>
        </p:txBody>
      </p:sp>
      <p:sp>
        <p:nvSpPr>
          <p:cNvPr id="11" name="text-109">
            <a:extLst xmlns:a="http://schemas.openxmlformats.org/drawingml/2006/main">
              <a:ext uri="{FF2B5EF4-FFF2-40B4-BE49-F238E27FC236}">
                <a16:creationId xmlns:a16="http://schemas.microsoft.com/office/drawing/2014/main" id="{97DC5B5C-406A-434A-B19E-BDF13AF8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52950"/>
            <a:ext cx="1905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DBSCAN noise | ARI = .030</a:t>
            </a:r>
          </a:p>
        </p:txBody>
      </p:sp>
      <p:sp>
        <p:nvSpPr>
          <p:cNvPr id="12" name="text-110">
            <a:extLst xmlns:a="http://schemas.openxmlformats.org/drawingml/2006/main">
              <a:ext uri="{FF2B5EF4-FFF2-40B4-BE49-F238E27FC236}">
                <a16:creationId xmlns:a16="http://schemas.microsoft.com/office/drawing/2014/main" id="{328212C7-5082-4655-8C21-C4F89839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67350"/>
            <a:ext cx="3143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Full dataset n = 569</a:t>
            </a:r>
          </a:p>
        </p:txBody>
      </p:sp>
      <p:sp>
        <p:nvSpPr>
          <p:cNvPr id="13" name="text-112">
            <a:extLst xmlns:a="http://schemas.openxmlformats.org/drawingml/2006/main">
              <a:ext uri="{FF2B5EF4-FFF2-40B4-BE49-F238E27FC236}">
                <a16:creationId xmlns:a16="http://schemas.microsoft.com/office/drawing/2014/main" id="{30D50AB2-8717-4496-B2BA-CEAE2970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5a52c64e740c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034551" y="1638300"/>
            <a:ext cx="5398498" cy="400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8967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itle-10">
            <a:extLst xmlns:a="http://schemas.openxmlformats.org/drawingml/2006/main">
              <a:ext uri="{FF2B5EF4-FFF2-40B4-BE49-F238E27FC236}">
                <a16:creationId xmlns:a16="http://schemas.microsoft.com/office/drawing/2014/main" id="{E9AEF3C2-AC51-45E9-9C7A-BB7B9E4D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Bonuses extend the analysis without replacing it</a:t>
            </a:r>
          </a:p>
        </p:txBody>
      </p:sp>
      <p:sp>
        <p:nvSpPr>
          <p:cNvPr id="2" name="panel-113">
            <a:extLst xmlns:a="http://schemas.openxmlformats.org/drawingml/2006/main">
              <a:ext uri="{FF2B5EF4-FFF2-40B4-BE49-F238E27FC236}">
                <a16:creationId xmlns:a16="http://schemas.microsoft.com/office/drawing/2014/main" id="{D34B118C-F592-4739-A18F-0B6E00AE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76875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anel-114">
            <a:extLst xmlns:a="http://schemas.openxmlformats.org/drawingml/2006/main">
              <a:ext uri="{FF2B5EF4-FFF2-40B4-BE49-F238E27FC236}">
                <a16:creationId xmlns:a16="http://schemas.microsoft.com/office/drawing/2014/main" id="{F5306613-8F58-455E-9100-107F9E58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428750"/>
            <a:ext cx="55245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text-115">
            <a:extLst xmlns:a="http://schemas.openxmlformats.org/drawingml/2006/main">
              <a:ext uri="{FF2B5EF4-FFF2-40B4-BE49-F238E27FC236}">
                <a16:creationId xmlns:a16="http://schemas.microsoft.com/office/drawing/2014/main" id="{E000F139-C6DA-4A96-AD6C-02FF7F4A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247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SAMME.R</a:t>
            </a:r>
          </a:p>
        </p:txBody>
      </p:sp>
      <p:sp>
        <p:nvSpPr>
          <p:cNvPr id="5" name="text-116">
            <a:extLst xmlns:a="http://schemas.openxmlformats.org/drawingml/2006/main">
              <a:ext uri="{FF2B5EF4-FFF2-40B4-BE49-F238E27FC236}">
                <a16:creationId xmlns:a16="http://schemas.microsoft.com/office/drawing/2014/main" id="{7A00D711-287E-43DF-A4D8-C1697B6E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4381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BC .9561 to .9649
Adult .8573 to .8687</a:t>
            </a:r>
          </a:p>
        </p:txBody>
      </p:sp>
      <p:cxnSp>
        <p:nvCxnSpPr>
          <p:cNvPr id="62" name="rule-117"/>
          <p:cNvCxnSpPr/>
          <p:nvPr/>
        </p:nvCxnSpPr>
        <p:spPr>
          <a:xfrm xmlns:a="http://schemas.openxmlformats.org/drawingml/2006/main">
            <a:off x="704850" y="3067050"/>
            <a:ext cx="457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-118">
            <a:extLst xmlns:a="http://schemas.openxmlformats.org/drawingml/2006/main">
              <a:ext uri="{FF2B5EF4-FFF2-40B4-BE49-F238E27FC236}">
                <a16:creationId xmlns:a16="http://schemas.microsoft.com/office/drawing/2014/main" id="{191E16D7-3B45-4B9B-9803-BB021D1D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71850"/>
            <a:ext cx="304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Gradient Boosting</a:t>
            </a:r>
          </a:p>
        </p:txBody>
      </p:sp>
      <p:sp>
        <p:nvSpPr>
          <p:cNvPr id="8" name="text-119">
            <a:extLst xmlns:a="http://schemas.openxmlformats.org/drawingml/2006/main">
              <a:ext uri="{FF2B5EF4-FFF2-40B4-BE49-F238E27FC236}">
                <a16:creationId xmlns:a16="http://schemas.microsoft.com/office/drawing/2014/main" id="{BBD73A76-BE12-457B-9D25-761BD523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447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Binary log-loss; BC accuracy .9386, AUC .9899</a:t>
            </a:r>
          </a:p>
        </p:txBody>
      </p:sp>
      <p:cxnSp>
        <p:nvCxnSpPr>
          <p:cNvPr id="65" name="rule-120"/>
          <p:cNvCxnSpPr/>
          <p:nvPr/>
        </p:nvCxnSpPr>
        <p:spPr>
          <a:xfrm xmlns:a="http://schemas.openxmlformats.org/drawingml/2006/main">
            <a:off x="704850" y="4686300"/>
            <a:ext cx="457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text-121">
            <a:extLst xmlns:a="http://schemas.openxmlformats.org/drawingml/2006/main">
              <a:ext uri="{FF2B5EF4-FFF2-40B4-BE49-F238E27FC236}">
                <a16:creationId xmlns:a16="http://schemas.microsoft.com/office/drawing/2014/main" id="{825192AE-6F50-4DD7-925D-A7D45E53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14900"/>
            <a:ext cx="304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Interactive notebook</a:t>
            </a:r>
          </a:p>
        </p:txBody>
      </p:sp>
      <p:sp>
        <p:nvSpPr>
          <p:cNvPr id="11" name="text-122">
            <a:extLst xmlns:a="http://schemas.openxmlformats.org/drawingml/2006/main">
              <a:ext uri="{FF2B5EF4-FFF2-40B4-BE49-F238E27FC236}">
                <a16:creationId xmlns:a16="http://schemas.microsoft.com/office/drawing/2014/main" id="{CADB7AB0-59D1-4601-80DC-8AA7EB60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76850"/>
            <a:ext cx="4476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Executed controls for model and cluster complexity</a:t>
            </a:r>
          </a:p>
        </p:txBody>
      </p:sp>
      <p:sp>
        <p:nvSpPr>
          <p:cNvPr id="12" name="text-123">
            <a:extLst xmlns:a="http://schemas.openxmlformats.org/drawingml/2006/main">
              <a:ext uri="{FF2B5EF4-FFF2-40B4-BE49-F238E27FC236}">
                <a16:creationId xmlns:a16="http://schemas.microsoft.com/office/drawing/2014/main" id="{5FD91AFF-9F3D-452C-811F-6A898E97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764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t-SNE</a:t>
            </a:r>
          </a:p>
        </p:txBody>
      </p:sp>
      <p:sp>
        <p:nvSpPr>
          <p:cNvPr id="13" name="text-124">
            <a:extLst xmlns:a="http://schemas.openxmlformats.org/drawingml/2006/main">
              <a:ext uri="{FF2B5EF4-FFF2-40B4-BE49-F238E27FC236}">
                <a16:creationId xmlns:a16="http://schemas.microsoft.com/office/drawing/2014/main" id="{84147936-86D2-40EF-BF31-7FF4B5B5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76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n=569, perplexity 30 | no global-distance claim</a:t>
            </a:r>
          </a:p>
        </p:txBody>
      </p:sp>
      <p:sp>
        <p:nvSpPr>
          <p:cNvPr id="14" name="text-125">
            <a:extLst xmlns:a="http://schemas.openxmlformats.org/drawingml/2006/main">
              <a:ext uri="{FF2B5EF4-FFF2-40B4-BE49-F238E27FC236}">
                <a16:creationId xmlns:a16="http://schemas.microsoft.com/office/drawing/2014/main" id="{877265EB-BEC2-4697-A8CE-089E1A78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1038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88.71% coverage | Ruff clean | mypy clean | AI assistance disclosed</a:t>
            </a:r>
          </a:p>
        </p:txBody>
      </p:sp>
      <p:sp>
        <p:nvSpPr>
          <p:cNvPr id="15" name="text-127">
            <a:extLst xmlns:a="http://schemas.openxmlformats.org/drawingml/2006/main">
              <a:ext uri="{FF2B5EF4-FFF2-40B4-BE49-F238E27FC236}">
                <a16:creationId xmlns:a16="http://schemas.microsoft.com/office/drawing/2014/main" id="{30A0A7A3-90F2-49F5-AD91-BC9AF045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e46bba3f2a422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973129" y="2019300"/>
            <a:ext cx="4113141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34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28">
            <a:extLst xmlns:a="http://schemas.openxmlformats.org/drawingml/2006/main">
              <a:ext uri="{FF2B5EF4-FFF2-40B4-BE49-F238E27FC236}">
                <a16:creationId xmlns:a16="http://schemas.microsoft.com/office/drawing/2014/main" id="{7F15E917-5943-4F9E-8B2D-62E70239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THE ANSWER</a:t>
            </a:r>
          </a:p>
        </p:txBody>
      </p:sp>
      <p:sp>
        <p:nvSpPr>
          <p:cNvPr id="2" name="text-129">
            <a:extLst xmlns:a="http://schemas.openxmlformats.org/drawingml/2006/main">
              <a:ext uri="{FF2B5EF4-FFF2-40B4-BE49-F238E27FC236}">
                <a16:creationId xmlns:a16="http://schemas.microsoft.com/office/drawing/2014/main" id="{59B1ED58-333E-4243-AB6E-4FD1A824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0287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No universal winner: let the data decide</a:t>
            </a:r>
          </a:p>
        </p:txBody>
      </p:sp>
      <p:cxnSp>
        <p:nvCxnSpPr>
          <p:cNvPr id="26" name="rule-130"/>
          <p:cNvCxnSpPr/>
          <p:nvPr/>
        </p:nvCxnSpPr>
        <p:spPr>
          <a:xfrm xmlns:a="http://schemas.openxmlformats.org/drawingml/2006/main">
            <a:off x="400050" y="2343150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4" name="text-131">
            <a:extLst xmlns:a="http://schemas.openxmlformats.org/drawingml/2006/main">
              <a:ext uri="{FF2B5EF4-FFF2-40B4-BE49-F238E27FC236}">
                <a16:creationId xmlns:a16="http://schemas.microsoft.com/office/drawing/2014/main" id="{9294A2E7-4B21-48C5-9F18-5ECF677A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BOOST</a:t>
            </a:r>
          </a:p>
        </p:txBody>
      </p:sp>
      <p:sp>
        <p:nvSpPr>
          <p:cNvPr id="5" name="text-132">
            <a:extLst xmlns:a="http://schemas.openxmlformats.org/drawingml/2006/main">
              <a:ext uri="{FF2B5EF4-FFF2-40B4-BE49-F238E27FC236}">
                <a16:creationId xmlns:a16="http://schemas.microsoft.com/office/drawing/2014/main" id="{1099F38E-0CDD-4CE1-9061-0D599AE2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5048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Breast Cancer: AdaBoost .9666. Sequential correction worked best on this structured binary task.</a:t>
            </a:r>
          </a:p>
        </p:txBody>
      </p:sp>
      <p:sp>
        <p:nvSpPr>
          <p:cNvPr id="6" name="text-133">
            <a:extLst xmlns:a="http://schemas.openxmlformats.org/drawingml/2006/main">
              <a:ext uri="{FF2B5EF4-FFF2-40B4-BE49-F238E27FC236}">
                <a16:creationId xmlns:a16="http://schemas.microsoft.com/office/drawing/2014/main" id="{80A9B74C-7EE0-4198-94CD-BCD59AC3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813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BAG</a:t>
            </a:r>
          </a:p>
        </p:txBody>
      </p:sp>
      <p:sp>
        <p:nvSpPr>
          <p:cNvPr id="7" name="text-134">
            <a:extLst xmlns:a="http://schemas.openxmlformats.org/drawingml/2006/main">
              <a:ext uri="{FF2B5EF4-FFF2-40B4-BE49-F238E27FC236}">
                <a16:creationId xmlns:a16="http://schemas.microsoft.com/office/drawing/2014/main" id="{EA09923C-24F2-4C64-8507-3B995649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19450"/>
            <a:ext cx="5048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Adult RF .8649; Covertype RF .7938. Diverse trees handled mixed and multiclass structure better.</a:t>
            </a:r>
          </a:p>
        </p:txBody>
      </p:sp>
      <p:sp>
        <p:nvSpPr>
          <p:cNvPr id="8" name="panel-135">
            <a:extLst xmlns:a="http://schemas.openxmlformats.org/drawingml/2006/main">
              <a:ext uri="{FF2B5EF4-FFF2-40B4-BE49-F238E27FC236}">
                <a16:creationId xmlns:a16="http://schemas.microsoft.com/office/drawing/2014/main" id="{9CAE8B32-65EC-45A5-9514-0746ABB9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11391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text-136">
            <a:extLst xmlns:a="http://schemas.openxmlformats.org/drawingml/2006/main">
              <a:ext uri="{FF2B5EF4-FFF2-40B4-BE49-F238E27FC236}">
                <a16:creationId xmlns:a16="http://schemas.microsoft.com/office/drawing/2014/main" id="{BA671DAB-0414-44A6-BC44-8AC7696B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Release after truthful contribution approval, genuine Git history, final audit, Moodle submission, and v1.0-final.</a:t>
            </a:r>
          </a:p>
        </p:txBody>
      </p:sp>
      <p:sp>
        <p:nvSpPr>
          <p:cNvPr id="10" name="text-137">
            <a:extLst xmlns:a="http://schemas.openxmlformats.org/drawingml/2006/main">
              <a:ext uri="{FF2B5EF4-FFF2-40B4-BE49-F238E27FC236}">
                <a16:creationId xmlns:a16="http://schemas.microsoft.com/office/drawing/2014/main" id="{70494644-FE0E-4187-B0BA-761D25FA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038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Defense focus: weights, OOB coverage, noise, probability loss, and cluster assumptions.</a:t>
            </a:r>
          </a:p>
        </p:txBody>
      </p:sp>
      <p:sp>
        <p:nvSpPr>
          <p:cNvPr id="11" name="text-138">
            <a:extLst xmlns:a="http://schemas.openxmlformats.org/drawingml/2006/main">
              <a:ext uri="{FF2B5EF4-FFF2-40B4-BE49-F238E27FC236}">
                <a16:creationId xmlns:a16="http://schemas.microsoft.com/office/drawing/2014/main" id="{238C133E-CCE6-41AD-B165-6DA1949E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321223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2026-07-18T19:30:03.7460000Z</dcterms:created>
  <dcterms:modified xsi:type="dcterms:W3CDTF">2026-07-18T19:30:03.7460000Z</dcterms:modified>
</coreProperties>
</file>